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9"/>
  </p:notesMasterIdLst>
  <p:sldIdLst>
    <p:sldId id="285" r:id="rId2"/>
    <p:sldId id="307" r:id="rId3"/>
    <p:sldId id="315" r:id="rId4"/>
    <p:sldId id="316" r:id="rId5"/>
    <p:sldId id="317" r:id="rId6"/>
    <p:sldId id="313" r:id="rId7"/>
    <p:sldId id="314"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697" autoAdjust="0"/>
    <p:restoredTop sz="94781"/>
  </p:normalViewPr>
  <p:slideViewPr>
    <p:cSldViewPr snapToGrid="0">
      <p:cViewPr>
        <p:scale>
          <a:sx n="130" d="100"/>
          <a:sy n="130" d="100"/>
        </p:scale>
        <p:origin x="184" y="-352"/>
      </p:cViewPr>
      <p:guideLst/>
    </p:cSldViewPr>
  </p:slideViewPr>
  <p:notesTextViewPr>
    <p:cViewPr>
      <p:scale>
        <a:sx n="1" d="1"/>
        <a:sy n="1" d="1"/>
      </p:scale>
      <p:origin x="0" y="0"/>
    </p:cViewPr>
  </p:notesTextViewPr>
  <p:notesViewPr>
    <p:cSldViewPr snapToGrid="0">
      <p:cViewPr varScale="1">
        <p:scale>
          <a:sx n="79" d="100"/>
          <a:sy n="79" d="100"/>
        </p:scale>
        <p:origin x="4016" y="19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D06BDE2-4A55-3648-AC9C-5DC3D4CE1EF2}" type="datetimeFigureOut">
              <a:rPr lang="fr-FR" smtClean="0"/>
              <a:t>06/06/2026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6A36CC-2217-EC48-992C-4DACD017AF12}" type="slidenum">
              <a:rPr lang="fr-FR" smtClean="0"/>
              <a:t>‹N°›</a:t>
            </a:fld>
            <a:endParaRPr lang="fr-FR"/>
          </a:p>
        </p:txBody>
      </p:sp>
    </p:spTree>
    <p:extLst>
      <p:ext uri="{BB962C8B-B14F-4D97-AF65-F5344CB8AC3E}">
        <p14:creationId xmlns:p14="http://schemas.microsoft.com/office/powerpoint/2010/main" val="42830543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122363"/>
            <a:ext cx="103632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FD5DDFE7-B681-49BE-AC4C-723311B5E214}" type="datetimeFigureOut">
              <a:rPr lang="fr-FR" smtClean="0"/>
              <a:pPr/>
              <a:t>06/06/2026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EE5EE9D3-6EDE-49ED-8535-A3DAA63D57A7}" type="slidenum">
              <a:rPr lang="fr-FR" smtClean="0"/>
              <a:pPr/>
              <a:t>‹N°›</a:t>
            </a:fld>
            <a:endParaRPr lang="fr-FR"/>
          </a:p>
        </p:txBody>
      </p:sp>
    </p:spTree>
    <p:extLst>
      <p:ext uri="{BB962C8B-B14F-4D97-AF65-F5344CB8AC3E}">
        <p14:creationId xmlns:p14="http://schemas.microsoft.com/office/powerpoint/2010/main" val="41887531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FD5DDFE7-B681-49BE-AC4C-723311B5E214}" type="datetimeFigureOut">
              <a:rPr lang="fr-FR" smtClean="0"/>
              <a:pPr/>
              <a:t>06/06/2026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EE5EE9D3-6EDE-49ED-8535-A3DAA63D57A7}" type="slidenum">
              <a:rPr lang="fr-FR" smtClean="0"/>
              <a:pPr/>
              <a:t>‹N°›</a:t>
            </a:fld>
            <a:endParaRPr lang="fr-FR"/>
          </a:p>
        </p:txBody>
      </p:sp>
    </p:spTree>
    <p:extLst>
      <p:ext uri="{BB962C8B-B14F-4D97-AF65-F5344CB8AC3E}">
        <p14:creationId xmlns:p14="http://schemas.microsoft.com/office/powerpoint/2010/main" val="1339037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Modifier les styles du texte du masque</a:t>
            </a:r>
          </a:p>
        </p:txBody>
      </p:sp>
      <p:sp>
        <p:nvSpPr>
          <p:cNvPr id="4" name="Date Placeholder 3"/>
          <p:cNvSpPr>
            <a:spLocks noGrp="1"/>
          </p:cNvSpPr>
          <p:nvPr>
            <p:ph type="dt" sz="half" idx="10"/>
          </p:nvPr>
        </p:nvSpPr>
        <p:spPr/>
        <p:txBody>
          <a:bodyPr/>
          <a:lstStyle/>
          <a:p>
            <a:fld id="{FD5DDFE7-B681-49BE-AC4C-723311B5E214}" type="datetimeFigureOut">
              <a:rPr lang="fr-FR" smtClean="0"/>
              <a:pPr/>
              <a:t>06/06/2026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EE5EE9D3-6EDE-49ED-8535-A3DAA63D57A7}" type="slidenum">
              <a:rPr lang="fr-FR" smtClean="0"/>
              <a:pPr/>
              <a:t>‹N°›</a:t>
            </a:fld>
            <a:endParaRPr lang="fr-FR"/>
          </a:p>
        </p:txBody>
      </p:sp>
    </p:spTree>
    <p:extLst>
      <p:ext uri="{BB962C8B-B14F-4D97-AF65-F5344CB8AC3E}">
        <p14:creationId xmlns:p14="http://schemas.microsoft.com/office/powerpoint/2010/main" val="13010477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FD5DDFE7-B681-49BE-AC4C-723311B5E214}" type="datetimeFigureOut">
              <a:rPr lang="fr-FR" smtClean="0"/>
              <a:pPr/>
              <a:t>06/06/2026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EE5EE9D3-6EDE-49ED-8535-A3DAA63D57A7}" type="slidenum">
              <a:rPr lang="fr-FR" smtClean="0"/>
              <a:pPr/>
              <a:t>‹N°›</a:t>
            </a:fld>
            <a:endParaRPr lang="fr-FR"/>
          </a:p>
        </p:txBody>
      </p:sp>
    </p:spTree>
    <p:extLst>
      <p:ext uri="{BB962C8B-B14F-4D97-AF65-F5344CB8AC3E}">
        <p14:creationId xmlns:p14="http://schemas.microsoft.com/office/powerpoint/2010/main" val="32876224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Content Placeholder 3"/>
          <p:cNvSpPr>
            <a:spLocks noGrp="1"/>
          </p:cNvSpPr>
          <p:nvPr>
            <p:ph sz="half" idx="2"/>
          </p:nvPr>
        </p:nvSpPr>
        <p:spPr>
          <a:xfrm>
            <a:off x="839789" y="2505075"/>
            <a:ext cx="5157787"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Content Placeholder 5"/>
          <p:cNvSpPr>
            <a:spLocks noGrp="1"/>
          </p:cNvSpPr>
          <p:nvPr>
            <p:ph sz="quarter" idx="4"/>
          </p:nvPr>
        </p:nvSpPr>
        <p:spPr>
          <a:xfrm>
            <a:off x="6172201" y="2505075"/>
            <a:ext cx="5183188"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FD5DDFE7-B681-49BE-AC4C-723311B5E214}" type="datetimeFigureOut">
              <a:rPr lang="fr-FR" smtClean="0"/>
              <a:pPr/>
              <a:t>06/06/2026</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EE5EE9D3-6EDE-49ED-8535-A3DAA63D57A7}" type="slidenum">
              <a:rPr lang="fr-FR" smtClean="0"/>
              <a:pPr/>
              <a:t>‹N°›</a:t>
            </a:fld>
            <a:endParaRPr lang="fr-FR"/>
          </a:p>
        </p:txBody>
      </p:sp>
    </p:spTree>
    <p:extLst>
      <p:ext uri="{BB962C8B-B14F-4D97-AF65-F5344CB8AC3E}">
        <p14:creationId xmlns:p14="http://schemas.microsoft.com/office/powerpoint/2010/main" val="2414057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FD5DDFE7-B681-49BE-AC4C-723311B5E214}" type="datetimeFigureOut">
              <a:rPr lang="fr-FR" smtClean="0"/>
              <a:pPr/>
              <a:t>06/06/2026</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EE5EE9D3-6EDE-49ED-8535-A3DAA63D57A7}" type="slidenum">
              <a:rPr lang="fr-FR" smtClean="0"/>
              <a:pPr/>
              <a:t>‹N°›</a:t>
            </a:fld>
            <a:endParaRPr lang="fr-FR"/>
          </a:p>
        </p:txBody>
      </p:sp>
    </p:spTree>
    <p:extLst>
      <p:ext uri="{BB962C8B-B14F-4D97-AF65-F5344CB8AC3E}">
        <p14:creationId xmlns:p14="http://schemas.microsoft.com/office/powerpoint/2010/main" val="6544998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D5DDFE7-B681-49BE-AC4C-723311B5E214}" type="datetimeFigureOut">
              <a:rPr lang="fr-FR" smtClean="0"/>
              <a:pPr/>
              <a:t>06/06/2026</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EE5EE9D3-6EDE-49ED-8535-A3DAA63D57A7}" type="slidenum">
              <a:rPr lang="fr-FR" smtClean="0"/>
              <a:pPr/>
              <a:t>‹N°›</a:t>
            </a:fld>
            <a:endParaRPr lang="fr-FR"/>
          </a:p>
        </p:txBody>
      </p:sp>
    </p:spTree>
    <p:extLst>
      <p:ext uri="{BB962C8B-B14F-4D97-AF65-F5344CB8AC3E}">
        <p14:creationId xmlns:p14="http://schemas.microsoft.com/office/powerpoint/2010/main" val="25331169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Date Placeholder 4"/>
          <p:cNvSpPr>
            <a:spLocks noGrp="1"/>
          </p:cNvSpPr>
          <p:nvPr>
            <p:ph type="dt" sz="half" idx="10"/>
          </p:nvPr>
        </p:nvSpPr>
        <p:spPr/>
        <p:txBody>
          <a:bodyPr/>
          <a:lstStyle/>
          <a:p>
            <a:fld id="{FD5DDFE7-B681-49BE-AC4C-723311B5E214}" type="datetimeFigureOut">
              <a:rPr lang="fr-FR" smtClean="0"/>
              <a:pPr/>
              <a:t>06/06/2026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EE5EE9D3-6EDE-49ED-8535-A3DAA63D57A7}" type="slidenum">
              <a:rPr lang="fr-FR" smtClean="0"/>
              <a:pPr/>
              <a:t>‹N°›</a:t>
            </a:fld>
            <a:endParaRPr lang="fr-FR"/>
          </a:p>
        </p:txBody>
      </p:sp>
    </p:spTree>
    <p:extLst>
      <p:ext uri="{BB962C8B-B14F-4D97-AF65-F5344CB8AC3E}">
        <p14:creationId xmlns:p14="http://schemas.microsoft.com/office/powerpoint/2010/main" val="415139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Date Placeholder 4"/>
          <p:cNvSpPr>
            <a:spLocks noGrp="1"/>
          </p:cNvSpPr>
          <p:nvPr>
            <p:ph type="dt" sz="half" idx="10"/>
          </p:nvPr>
        </p:nvSpPr>
        <p:spPr/>
        <p:txBody>
          <a:bodyPr/>
          <a:lstStyle/>
          <a:p>
            <a:fld id="{FD5DDFE7-B681-49BE-AC4C-723311B5E214}" type="datetimeFigureOut">
              <a:rPr lang="fr-FR" smtClean="0"/>
              <a:pPr/>
              <a:t>06/06/2026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EE5EE9D3-6EDE-49ED-8535-A3DAA63D57A7}" type="slidenum">
              <a:rPr lang="fr-FR" smtClean="0"/>
              <a:pPr/>
              <a:t>‹N°›</a:t>
            </a:fld>
            <a:endParaRPr lang="fr-FR"/>
          </a:p>
        </p:txBody>
      </p:sp>
    </p:spTree>
    <p:extLst>
      <p:ext uri="{BB962C8B-B14F-4D97-AF65-F5344CB8AC3E}">
        <p14:creationId xmlns:p14="http://schemas.microsoft.com/office/powerpoint/2010/main" val="34379632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FD5DDFE7-B681-49BE-AC4C-723311B5E214}" type="datetimeFigureOut">
              <a:rPr lang="fr-FR" smtClean="0"/>
              <a:pPr/>
              <a:t>06/06/2026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EE5EE9D3-6EDE-49ED-8535-A3DAA63D57A7}" type="slidenum">
              <a:rPr lang="fr-FR" smtClean="0"/>
              <a:pPr/>
              <a:t>‹N°›</a:t>
            </a:fld>
            <a:endParaRPr lang="fr-FR"/>
          </a:p>
        </p:txBody>
      </p:sp>
    </p:spTree>
    <p:extLst>
      <p:ext uri="{BB962C8B-B14F-4D97-AF65-F5344CB8AC3E}">
        <p14:creationId xmlns:p14="http://schemas.microsoft.com/office/powerpoint/2010/main" val="12326443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FD5DDFE7-B681-49BE-AC4C-723311B5E214}" type="datetimeFigureOut">
              <a:rPr lang="fr-FR" smtClean="0"/>
              <a:pPr/>
              <a:t>06/06/2026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EE5EE9D3-6EDE-49ED-8535-A3DAA63D57A7}" type="slidenum">
              <a:rPr lang="fr-FR" smtClean="0"/>
              <a:pPr/>
              <a:t>‹N°›</a:t>
            </a:fld>
            <a:endParaRPr lang="fr-FR"/>
          </a:p>
        </p:txBody>
      </p:sp>
    </p:spTree>
    <p:extLst>
      <p:ext uri="{BB962C8B-B14F-4D97-AF65-F5344CB8AC3E}">
        <p14:creationId xmlns:p14="http://schemas.microsoft.com/office/powerpoint/2010/main" val="18709805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3000"/>
            <a:lum/>
          </a:blip>
          <a:srcRect/>
          <a:stretch>
            <a:fillRect t="-2000" b="-2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D5DDFE7-B681-49BE-AC4C-723311B5E214}" type="datetimeFigureOut">
              <a:rPr lang="fr-FR" smtClean="0"/>
              <a:pPr/>
              <a:t>06/06/2026</a:t>
            </a:fld>
            <a:endParaRPr lang="fr-FR"/>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5EE9D3-6EDE-49ED-8535-A3DAA63D57A7}" type="slidenum">
              <a:rPr lang="fr-FR" smtClean="0"/>
              <a:pPr/>
              <a:t>‹N°›</a:t>
            </a:fld>
            <a:endParaRPr lang="fr-FR"/>
          </a:p>
        </p:txBody>
      </p:sp>
    </p:spTree>
    <p:extLst>
      <p:ext uri="{BB962C8B-B14F-4D97-AF65-F5344CB8AC3E}">
        <p14:creationId xmlns:p14="http://schemas.microsoft.com/office/powerpoint/2010/main" val="132198785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re 1"/>
          <p:cNvSpPr>
            <a:spLocks noGrp="1"/>
          </p:cNvSpPr>
          <p:nvPr>
            <p:ph type="ctrTitle"/>
          </p:nvPr>
        </p:nvSpPr>
        <p:spPr>
          <a:xfrm>
            <a:off x="2246376" y="704538"/>
            <a:ext cx="7772400" cy="3153090"/>
          </a:xfrm>
        </p:spPr>
        <p:txBody>
          <a:bodyPr>
            <a:normAutofit fontScale="90000"/>
          </a:bodyPr>
          <a:lstStyle/>
          <a:p>
            <a:br>
              <a:rPr lang="fr-FR" dirty="0">
                <a:solidFill>
                  <a:schemeClr val="accent1"/>
                </a:solidFill>
              </a:rPr>
            </a:br>
            <a:r>
              <a:rPr lang="fr-FR" sz="4000" dirty="0">
                <a:solidFill>
                  <a:schemeClr val="accent1"/>
                </a:solidFill>
              </a:rPr>
              <a:t>RESPONSABILITÉS ÉTHIQUES DU CHERCHEUR EN RECHERCHE EXPÉRIMENTALE / </a:t>
            </a:r>
            <a:br>
              <a:rPr lang="fr-FR" sz="4000" dirty="0">
                <a:solidFill>
                  <a:schemeClr val="accent1"/>
                </a:solidFill>
              </a:rPr>
            </a:br>
            <a:r>
              <a:rPr lang="fr-FR" sz="4000" dirty="0">
                <a:solidFill>
                  <a:srgbClr val="00B050"/>
                </a:solidFill>
              </a:rPr>
              <a:t>ETHICAL RESPONSIBILITIES OF THE RESEARCHER IN EXPERIMENTAL RESEARCH</a:t>
            </a:r>
          </a:p>
        </p:txBody>
      </p:sp>
      <p:sp>
        <p:nvSpPr>
          <p:cNvPr id="3" name="Sous-titre 2"/>
          <p:cNvSpPr>
            <a:spLocks noGrp="1"/>
          </p:cNvSpPr>
          <p:nvPr>
            <p:ph type="subTitle" idx="1"/>
          </p:nvPr>
        </p:nvSpPr>
        <p:spPr>
          <a:xfrm>
            <a:off x="1881158" y="4485502"/>
            <a:ext cx="7497538" cy="1124725"/>
          </a:xfrm>
        </p:spPr>
        <p:txBody>
          <a:bodyPr>
            <a:normAutofit/>
          </a:bodyPr>
          <a:lstStyle/>
          <a:p>
            <a:r>
              <a:rPr lang="fr-FR" dirty="0" err="1">
                <a:solidFill>
                  <a:schemeClr val="accent1"/>
                </a:solidFill>
              </a:rPr>
              <a:t>EGAP</a:t>
            </a:r>
            <a:r>
              <a:rPr lang="fr-FR" dirty="0">
                <a:solidFill>
                  <a:schemeClr val="accent1"/>
                </a:solidFill>
              </a:rPr>
              <a:t> </a:t>
            </a:r>
            <a:r>
              <a:rPr lang="fr-FR" dirty="0" err="1">
                <a:solidFill>
                  <a:schemeClr val="accent1"/>
                </a:solidFill>
              </a:rPr>
              <a:t>LDs</a:t>
            </a:r>
            <a:r>
              <a:rPr lang="fr-FR" dirty="0">
                <a:solidFill>
                  <a:schemeClr val="accent1"/>
                </a:solidFill>
              </a:rPr>
              <a:t> 2026</a:t>
            </a:r>
          </a:p>
          <a:p>
            <a:r>
              <a:rPr lang="fr-FR" sz="2800" dirty="0">
                <a:solidFill>
                  <a:schemeClr val="accent1"/>
                </a:solidFill>
              </a:rPr>
              <a:t>Arsène Brice BADO</a:t>
            </a:r>
          </a:p>
        </p:txBody>
      </p:sp>
      <p:pic>
        <p:nvPicPr>
          <p:cNvPr id="4" name="Image 3" descr="Logo Cerap corrigé"/>
          <p:cNvPicPr/>
          <p:nvPr/>
        </p:nvPicPr>
        <p:blipFill>
          <a:blip r:embed="rId2" cstate="print"/>
          <a:srcRect/>
          <a:stretch>
            <a:fillRect/>
          </a:stretch>
        </p:blipFill>
        <p:spPr bwMode="auto">
          <a:xfrm>
            <a:off x="10678585" y="5427634"/>
            <a:ext cx="1143008" cy="891393"/>
          </a:xfrm>
          <a:prstGeom prst="rect">
            <a:avLst/>
          </a:prstGeom>
          <a:noFill/>
        </p:spPr>
      </p:pic>
    </p:spTree>
    <p:extLst>
      <p:ext uri="{BB962C8B-B14F-4D97-AF65-F5344CB8AC3E}">
        <p14:creationId xmlns:p14="http://schemas.microsoft.com/office/powerpoint/2010/main" val="13486353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724786A-009A-CD29-F2D0-735750D96C13}"/>
              </a:ext>
            </a:extLst>
          </p:cNvPr>
          <p:cNvSpPr>
            <a:spLocks noGrp="1"/>
          </p:cNvSpPr>
          <p:nvPr>
            <p:ph type="title"/>
          </p:nvPr>
        </p:nvSpPr>
        <p:spPr>
          <a:xfrm>
            <a:off x="838200" y="326081"/>
            <a:ext cx="10515600" cy="1062881"/>
          </a:xfrm>
        </p:spPr>
        <p:txBody>
          <a:bodyPr>
            <a:normAutofit fontScale="90000"/>
          </a:bodyPr>
          <a:lstStyle/>
          <a:p>
            <a:pPr algn="ctr"/>
            <a:r>
              <a:rPr lang="fr-FR" sz="3600" b="1" dirty="0">
                <a:solidFill>
                  <a:schemeClr val="accent1"/>
                </a:solidFill>
              </a:rPr>
              <a:t>Introduction</a:t>
            </a:r>
            <a:br>
              <a:rPr lang="fr-FR" sz="3600" b="1" dirty="0">
                <a:solidFill>
                  <a:schemeClr val="accent1"/>
                </a:solidFill>
              </a:rPr>
            </a:br>
            <a:r>
              <a:rPr lang="fr-FR" sz="2700" dirty="0">
                <a:solidFill>
                  <a:schemeClr val="accent1"/>
                </a:solidFill>
              </a:rPr>
              <a:t>Responsabilités éthiques du chercheur en recherche expérimentale/ </a:t>
            </a:r>
            <a:br>
              <a:rPr lang="fr-FR" sz="2700" dirty="0">
                <a:solidFill>
                  <a:schemeClr val="accent1"/>
                </a:solidFill>
              </a:rPr>
            </a:br>
            <a:r>
              <a:rPr lang="fr-FR" sz="2700" dirty="0" err="1">
                <a:solidFill>
                  <a:srgbClr val="00B050"/>
                </a:solidFill>
              </a:rPr>
              <a:t>Ethical</a:t>
            </a:r>
            <a:r>
              <a:rPr lang="fr-FR" sz="2700" dirty="0">
                <a:solidFill>
                  <a:srgbClr val="00B050"/>
                </a:solidFill>
              </a:rPr>
              <a:t> </a:t>
            </a:r>
            <a:r>
              <a:rPr lang="fr-FR" sz="2700" dirty="0" err="1">
                <a:solidFill>
                  <a:srgbClr val="00B050"/>
                </a:solidFill>
              </a:rPr>
              <a:t>responsibilities</a:t>
            </a:r>
            <a:r>
              <a:rPr lang="fr-FR" sz="2700" dirty="0">
                <a:solidFill>
                  <a:srgbClr val="00B050"/>
                </a:solidFill>
              </a:rPr>
              <a:t> of the </a:t>
            </a:r>
            <a:r>
              <a:rPr lang="fr-FR" sz="2700" dirty="0" err="1">
                <a:solidFill>
                  <a:srgbClr val="00B050"/>
                </a:solidFill>
              </a:rPr>
              <a:t>researcher</a:t>
            </a:r>
            <a:r>
              <a:rPr lang="fr-FR" sz="2700" dirty="0">
                <a:solidFill>
                  <a:srgbClr val="00B050"/>
                </a:solidFill>
              </a:rPr>
              <a:t> in </a:t>
            </a:r>
            <a:r>
              <a:rPr lang="fr-FR" sz="2700" dirty="0" err="1">
                <a:solidFill>
                  <a:srgbClr val="00B050"/>
                </a:solidFill>
              </a:rPr>
              <a:t>experimental</a:t>
            </a:r>
            <a:r>
              <a:rPr lang="fr-FR" sz="2700" dirty="0">
                <a:solidFill>
                  <a:srgbClr val="00B050"/>
                </a:solidFill>
              </a:rPr>
              <a:t> </a:t>
            </a:r>
            <a:r>
              <a:rPr lang="fr-FR" sz="2700" dirty="0" err="1">
                <a:solidFill>
                  <a:srgbClr val="00B050"/>
                </a:solidFill>
              </a:rPr>
              <a:t>research</a:t>
            </a:r>
            <a:endParaRPr lang="fr-FR" sz="2700" dirty="0">
              <a:solidFill>
                <a:srgbClr val="00B050"/>
              </a:solidFill>
            </a:endParaRPr>
          </a:p>
        </p:txBody>
      </p:sp>
      <p:sp>
        <p:nvSpPr>
          <p:cNvPr id="3" name="Espace réservé du contenu 2">
            <a:extLst>
              <a:ext uri="{FF2B5EF4-FFF2-40B4-BE49-F238E27FC236}">
                <a16:creationId xmlns:a16="http://schemas.microsoft.com/office/drawing/2014/main" id="{AA1C09E2-D7A2-0364-C310-620F17A2B647}"/>
              </a:ext>
            </a:extLst>
          </p:cNvPr>
          <p:cNvSpPr>
            <a:spLocks noGrp="1"/>
          </p:cNvSpPr>
          <p:nvPr>
            <p:ph sz="half" idx="1"/>
          </p:nvPr>
        </p:nvSpPr>
        <p:spPr>
          <a:xfrm>
            <a:off x="304800" y="1825625"/>
            <a:ext cx="5791200" cy="4351338"/>
          </a:xfrm>
        </p:spPr>
        <p:txBody>
          <a:bodyPr>
            <a:normAutofit/>
          </a:bodyPr>
          <a:lstStyle/>
          <a:p>
            <a:r>
              <a:rPr lang="fr-FR" sz="2400" b="1" dirty="0"/>
              <a:t>Pourquoi l’éthique est importante pour la recherche expérimentale?</a:t>
            </a:r>
          </a:p>
          <a:p>
            <a:r>
              <a:rPr lang="fr-FR" sz="2400" dirty="0"/>
              <a:t>La recherche expérimentale en sciences sociales est interventionniste et utilise les humains comme expérimentateurs. </a:t>
            </a:r>
          </a:p>
          <a:p>
            <a:pPr lvl="1"/>
            <a:r>
              <a:rPr lang="fr-FR" sz="2000" dirty="0"/>
              <a:t>Ex : Test d’un nouveau vaccin.</a:t>
            </a:r>
          </a:p>
          <a:p>
            <a:endParaRPr lang="fr-FR" sz="2400" dirty="0"/>
          </a:p>
          <a:p>
            <a:r>
              <a:rPr lang="fr-FR" sz="2400" dirty="0"/>
              <a:t>Ainsi, le chercheur a donc une responsabilité importante à l’endroit des personnes qui participent à l’étude ou qui pourraient être affectées par l’étude.</a:t>
            </a:r>
          </a:p>
        </p:txBody>
      </p:sp>
      <p:sp>
        <p:nvSpPr>
          <p:cNvPr id="4" name="Espace réservé du contenu 3">
            <a:extLst>
              <a:ext uri="{FF2B5EF4-FFF2-40B4-BE49-F238E27FC236}">
                <a16:creationId xmlns:a16="http://schemas.microsoft.com/office/drawing/2014/main" id="{7E001492-8C90-28E8-5FA0-D6DB68CC35CE}"/>
              </a:ext>
            </a:extLst>
          </p:cNvPr>
          <p:cNvSpPr>
            <a:spLocks noGrp="1"/>
          </p:cNvSpPr>
          <p:nvPr>
            <p:ph sz="half" idx="2"/>
          </p:nvPr>
        </p:nvSpPr>
        <p:spPr>
          <a:xfrm>
            <a:off x="6172200" y="1825625"/>
            <a:ext cx="5715000" cy="4351338"/>
          </a:xfrm>
        </p:spPr>
        <p:txBody>
          <a:bodyPr>
            <a:normAutofit/>
          </a:bodyPr>
          <a:lstStyle/>
          <a:p>
            <a:r>
              <a:rPr lang="fr-FR" sz="2400" b="1" dirty="0" err="1"/>
              <a:t>Why</a:t>
            </a:r>
            <a:r>
              <a:rPr lang="fr-FR" sz="2400" b="1" dirty="0"/>
              <a:t> </a:t>
            </a:r>
            <a:r>
              <a:rPr lang="fr-FR" sz="2400" b="1" dirty="0" err="1"/>
              <a:t>is</a:t>
            </a:r>
            <a:r>
              <a:rPr lang="fr-FR" sz="2400" b="1" dirty="0"/>
              <a:t> </a:t>
            </a:r>
            <a:r>
              <a:rPr lang="fr-FR" sz="2400" b="1" dirty="0" err="1"/>
              <a:t>ethics</a:t>
            </a:r>
            <a:r>
              <a:rPr lang="fr-FR" sz="2400" b="1" dirty="0"/>
              <a:t> important for </a:t>
            </a:r>
            <a:r>
              <a:rPr lang="fr-FR" sz="2400" b="1" dirty="0" err="1"/>
              <a:t>experimental</a:t>
            </a:r>
            <a:r>
              <a:rPr lang="fr-FR" sz="2400" b="1" dirty="0"/>
              <a:t> </a:t>
            </a:r>
            <a:r>
              <a:rPr lang="fr-FR" sz="2400" b="1" dirty="0" err="1"/>
              <a:t>research</a:t>
            </a:r>
            <a:r>
              <a:rPr lang="fr-FR" sz="2400" b="1" dirty="0"/>
              <a:t>?</a:t>
            </a:r>
          </a:p>
          <a:p>
            <a:r>
              <a:rPr lang="fr-FR" sz="2400" dirty="0" err="1"/>
              <a:t>Experimental</a:t>
            </a:r>
            <a:r>
              <a:rPr lang="fr-FR" sz="2400" dirty="0"/>
              <a:t> </a:t>
            </a:r>
            <a:r>
              <a:rPr lang="fr-FR" sz="2400" dirty="0" err="1"/>
              <a:t>research</a:t>
            </a:r>
            <a:r>
              <a:rPr lang="fr-FR" sz="2400" dirty="0"/>
              <a:t> in social science </a:t>
            </a:r>
            <a:r>
              <a:rPr lang="fr-FR" sz="2400" dirty="0" err="1"/>
              <a:t>is</a:t>
            </a:r>
            <a:r>
              <a:rPr lang="fr-FR" sz="2400" dirty="0"/>
              <a:t> </a:t>
            </a:r>
            <a:r>
              <a:rPr lang="fr-FR" sz="2400" dirty="0" err="1"/>
              <a:t>interventionist</a:t>
            </a:r>
            <a:r>
              <a:rPr lang="fr-FR" sz="2400" dirty="0"/>
              <a:t> and uses </a:t>
            </a:r>
            <a:r>
              <a:rPr lang="fr-FR" sz="2400" dirty="0" err="1"/>
              <a:t>humans</a:t>
            </a:r>
            <a:r>
              <a:rPr lang="fr-FR" sz="2400" dirty="0"/>
              <a:t> as </a:t>
            </a:r>
            <a:r>
              <a:rPr lang="fr-FR" sz="2400" dirty="0" err="1"/>
              <a:t>experimenters</a:t>
            </a:r>
            <a:r>
              <a:rPr lang="fr-FR" sz="2400" dirty="0"/>
              <a:t>. </a:t>
            </a:r>
          </a:p>
          <a:p>
            <a:pPr lvl="1"/>
            <a:r>
              <a:rPr lang="fr-FR" sz="2000" dirty="0"/>
              <a:t>Ex: </a:t>
            </a:r>
            <a:r>
              <a:rPr lang="fr-FR" sz="2000" dirty="0" err="1"/>
              <a:t>Testing</a:t>
            </a:r>
            <a:r>
              <a:rPr lang="fr-FR" sz="2000" dirty="0"/>
              <a:t> a new vaccine.</a:t>
            </a:r>
          </a:p>
          <a:p>
            <a:pPr marL="0" indent="0">
              <a:buNone/>
            </a:pPr>
            <a:endParaRPr lang="fr-FR" sz="2400" dirty="0"/>
          </a:p>
          <a:p>
            <a:r>
              <a:rPr lang="fr-FR" sz="2400" dirty="0" err="1"/>
              <a:t>Thus</a:t>
            </a:r>
            <a:r>
              <a:rPr lang="fr-FR" sz="2400" dirty="0"/>
              <a:t>, the </a:t>
            </a:r>
            <a:r>
              <a:rPr lang="fr-FR" sz="2400" dirty="0" err="1"/>
              <a:t>researcher</a:t>
            </a:r>
            <a:r>
              <a:rPr lang="fr-FR" sz="2400" dirty="0"/>
              <a:t> has an important </a:t>
            </a:r>
            <a:r>
              <a:rPr lang="fr-FR" sz="2400" dirty="0" err="1"/>
              <a:t>responsibility</a:t>
            </a:r>
            <a:r>
              <a:rPr lang="fr-FR" sz="2400" dirty="0"/>
              <a:t> </a:t>
            </a:r>
            <a:r>
              <a:rPr lang="fr-FR" sz="2400" dirty="0" err="1"/>
              <a:t>towards</a:t>
            </a:r>
            <a:r>
              <a:rPr lang="fr-FR" sz="2400" dirty="0"/>
              <a:t> the people </a:t>
            </a:r>
            <a:r>
              <a:rPr lang="fr-FR" sz="2400" dirty="0" err="1"/>
              <a:t>who</a:t>
            </a:r>
            <a:r>
              <a:rPr lang="fr-FR" sz="2400" dirty="0"/>
              <a:t> </a:t>
            </a:r>
            <a:r>
              <a:rPr lang="fr-FR" sz="2400" dirty="0" err="1"/>
              <a:t>participate</a:t>
            </a:r>
            <a:r>
              <a:rPr lang="fr-FR" sz="2400" dirty="0"/>
              <a:t> in the </a:t>
            </a:r>
            <a:r>
              <a:rPr lang="fr-FR" sz="2400" dirty="0" err="1"/>
              <a:t>study</a:t>
            </a:r>
            <a:r>
              <a:rPr lang="fr-FR" sz="2400" dirty="0"/>
              <a:t> or </a:t>
            </a:r>
            <a:r>
              <a:rPr lang="fr-FR" sz="2400" dirty="0" err="1"/>
              <a:t>who</a:t>
            </a:r>
            <a:r>
              <a:rPr lang="fr-FR" sz="2400" dirty="0"/>
              <a:t> </a:t>
            </a:r>
            <a:r>
              <a:rPr lang="fr-FR" sz="2400" dirty="0" err="1"/>
              <a:t>could</a:t>
            </a:r>
            <a:r>
              <a:rPr lang="fr-FR" sz="2400" dirty="0"/>
              <a:t> </a:t>
            </a:r>
            <a:r>
              <a:rPr lang="fr-FR" sz="2400" dirty="0" err="1"/>
              <a:t>be</a:t>
            </a:r>
            <a:r>
              <a:rPr lang="fr-FR" sz="2400" dirty="0"/>
              <a:t> </a:t>
            </a:r>
            <a:r>
              <a:rPr lang="fr-FR" sz="2400" dirty="0" err="1"/>
              <a:t>affected</a:t>
            </a:r>
            <a:r>
              <a:rPr lang="fr-FR" sz="2400" dirty="0"/>
              <a:t> by the </a:t>
            </a:r>
            <a:r>
              <a:rPr lang="fr-FR" sz="2400" dirty="0" err="1"/>
              <a:t>study</a:t>
            </a:r>
            <a:r>
              <a:rPr lang="fr-FR" sz="2400" dirty="0"/>
              <a:t>.</a:t>
            </a:r>
          </a:p>
        </p:txBody>
      </p:sp>
    </p:spTree>
    <p:extLst>
      <p:ext uri="{BB962C8B-B14F-4D97-AF65-F5344CB8AC3E}">
        <p14:creationId xmlns:p14="http://schemas.microsoft.com/office/powerpoint/2010/main" val="37804695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46A67101-4C00-3DF7-9D4E-9123C1D2FA1F}"/>
              </a:ext>
            </a:extLst>
          </p:cNvPr>
          <p:cNvSpPr>
            <a:spLocks noGrp="1"/>
          </p:cNvSpPr>
          <p:nvPr>
            <p:ph type="title"/>
          </p:nvPr>
        </p:nvSpPr>
        <p:spPr>
          <a:xfrm>
            <a:off x="259491" y="185351"/>
            <a:ext cx="11244649" cy="1505339"/>
          </a:xfrm>
        </p:spPr>
        <p:txBody>
          <a:bodyPr>
            <a:noAutofit/>
          </a:bodyPr>
          <a:lstStyle/>
          <a:p>
            <a:r>
              <a:rPr lang="fr-FR" sz="2800" b="1" dirty="0">
                <a:solidFill>
                  <a:srgbClr val="0070C0"/>
                </a:solidFill>
              </a:rPr>
              <a:t>Quelques questions éthiques basiques à se poser dès la conception de la recherche expérimentale / </a:t>
            </a:r>
            <a:r>
              <a:rPr lang="fr-FR" sz="2800" b="1" i="1" dirty="0" err="1">
                <a:solidFill>
                  <a:srgbClr val="00B050"/>
                </a:solidFill>
              </a:rPr>
              <a:t>Some</a:t>
            </a:r>
            <a:r>
              <a:rPr lang="fr-FR" sz="2800" b="1" i="1" dirty="0">
                <a:solidFill>
                  <a:srgbClr val="00B050"/>
                </a:solidFill>
              </a:rPr>
              <a:t> basic </a:t>
            </a:r>
            <a:r>
              <a:rPr lang="fr-FR" sz="2800" b="1" i="1" dirty="0" err="1">
                <a:solidFill>
                  <a:srgbClr val="00B050"/>
                </a:solidFill>
              </a:rPr>
              <a:t>ethical</a:t>
            </a:r>
            <a:r>
              <a:rPr lang="fr-FR" sz="2800" b="1" i="1" dirty="0">
                <a:solidFill>
                  <a:srgbClr val="00B050"/>
                </a:solidFill>
              </a:rPr>
              <a:t> questions to </a:t>
            </a:r>
            <a:r>
              <a:rPr lang="fr-FR" sz="2800" b="1" i="1" dirty="0" err="1">
                <a:solidFill>
                  <a:srgbClr val="00B050"/>
                </a:solidFill>
              </a:rPr>
              <a:t>ask</a:t>
            </a:r>
            <a:r>
              <a:rPr lang="fr-FR" sz="2800" b="1" i="1" dirty="0">
                <a:solidFill>
                  <a:srgbClr val="00B050"/>
                </a:solidFill>
              </a:rPr>
              <a:t> </a:t>
            </a:r>
            <a:r>
              <a:rPr lang="fr-FR" sz="2800" b="1" i="1" dirty="0" err="1">
                <a:solidFill>
                  <a:srgbClr val="00B050"/>
                </a:solidFill>
              </a:rPr>
              <a:t>when</a:t>
            </a:r>
            <a:r>
              <a:rPr lang="fr-FR" sz="2800" b="1" i="1" dirty="0">
                <a:solidFill>
                  <a:srgbClr val="00B050"/>
                </a:solidFill>
              </a:rPr>
              <a:t> </a:t>
            </a:r>
            <a:r>
              <a:rPr lang="fr-FR" sz="2800" b="1" i="1" dirty="0" err="1">
                <a:solidFill>
                  <a:srgbClr val="00B050"/>
                </a:solidFill>
              </a:rPr>
              <a:t>designing</a:t>
            </a:r>
            <a:r>
              <a:rPr lang="fr-FR" sz="2800" b="1" i="1" dirty="0">
                <a:solidFill>
                  <a:srgbClr val="00B050"/>
                </a:solidFill>
              </a:rPr>
              <a:t> </a:t>
            </a:r>
            <a:r>
              <a:rPr lang="fr-FR" sz="2800" b="1" i="1" dirty="0" err="1">
                <a:solidFill>
                  <a:srgbClr val="00B050"/>
                </a:solidFill>
              </a:rPr>
              <a:t>experimental</a:t>
            </a:r>
            <a:r>
              <a:rPr lang="fr-FR" sz="2800" b="1" i="1" dirty="0">
                <a:solidFill>
                  <a:srgbClr val="00B050"/>
                </a:solidFill>
              </a:rPr>
              <a:t> </a:t>
            </a:r>
            <a:r>
              <a:rPr lang="fr-FR" sz="2800" b="1" i="1" dirty="0" err="1">
                <a:solidFill>
                  <a:srgbClr val="00B050"/>
                </a:solidFill>
              </a:rPr>
              <a:t>research</a:t>
            </a:r>
            <a:endParaRPr lang="fr-FR" sz="2800" b="1" i="1" dirty="0">
              <a:solidFill>
                <a:srgbClr val="00B050"/>
              </a:solidFill>
            </a:endParaRPr>
          </a:p>
        </p:txBody>
      </p:sp>
      <p:sp>
        <p:nvSpPr>
          <p:cNvPr id="5" name="Espace réservé du contenu 4">
            <a:extLst>
              <a:ext uri="{FF2B5EF4-FFF2-40B4-BE49-F238E27FC236}">
                <a16:creationId xmlns:a16="http://schemas.microsoft.com/office/drawing/2014/main" id="{E6C8056A-0DBE-2549-2286-AD0549B7BAB1}"/>
              </a:ext>
            </a:extLst>
          </p:cNvPr>
          <p:cNvSpPr>
            <a:spLocks noGrp="1"/>
          </p:cNvSpPr>
          <p:nvPr>
            <p:ph sz="half" idx="1"/>
          </p:nvPr>
        </p:nvSpPr>
        <p:spPr>
          <a:xfrm>
            <a:off x="420130" y="1825624"/>
            <a:ext cx="5599670" cy="5032375"/>
          </a:xfrm>
        </p:spPr>
        <p:txBody>
          <a:bodyPr>
            <a:normAutofit lnSpcReduction="10000"/>
          </a:bodyPr>
          <a:lstStyle/>
          <a:p>
            <a:r>
              <a:rPr lang="fr-FR" sz="2400" dirty="0"/>
              <a:t>La recherche sur des sujets humains nécessite généralement le consentement du sujet (</a:t>
            </a:r>
            <a:r>
              <a:rPr lang="fr-FR" sz="2400" dirty="0">
                <a:solidFill>
                  <a:srgbClr val="FF0000"/>
                </a:solidFill>
              </a:rPr>
              <a:t>respect des personnes</a:t>
            </a:r>
            <a:r>
              <a:rPr lang="fr-FR" sz="2400" dirty="0"/>
              <a:t>).</a:t>
            </a:r>
          </a:p>
          <a:p>
            <a:endParaRPr lang="fr-FR" sz="2400" dirty="0"/>
          </a:p>
          <a:p>
            <a:pPr lvl="1">
              <a:buFont typeface="Wingdings" pitchFamily="2" charset="2"/>
              <a:buChar char="Ø"/>
            </a:pPr>
            <a:r>
              <a:rPr lang="fr-FR" dirty="0"/>
              <a:t>Obtenir leur consentement éclairé (signature ou empreinte digitale)</a:t>
            </a:r>
          </a:p>
          <a:p>
            <a:pPr lvl="1">
              <a:buFont typeface="Wingdings" pitchFamily="2" charset="2"/>
              <a:buChar char="Ø"/>
            </a:pPr>
            <a:endParaRPr lang="fr-FR" dirty="0"/>
          </a:p>
          <a:p>
            <a:pPr lvl="1">
              <a:buFont typeface="Wingdings" pitchFamily="2" charset="2"/>
              <a:buChar char="Ø"/>
            </a:pPr>
            <a:r>
              <a:rPr lang="fr-FR" dirty="0"/>
              <a:t>Protéger leur vie privée en gardant les données confidentielles</a:t>
            </a:r>
          </a:p>
          <a:p>
            <a:r>
              <a:rPr lang="fr-FR" sz="2400" dirty="0"/>
              <a:t>Ce n’est pas pratique pour certaines expériences : observateurs électoraux dans les bureaux de vote.</a:t>
            </a:r>
          </a:p>
          <a:p>
            <a:pPr lvl="1"/>
            <a:r>
              <a:rPr lang="fr-FR" sz="2000" dirty="0"/>
              <a:t>Ces </a:t>
            </a:r>
            <a:r>
              <a:rPr lang="fr-FR" sz="2000" dirty="0" err="1"/>
              <a:t>expériments</a:t>
            </a:r>
            <a:r>
              <a:rPr lang="fr-FR" sz="2000" dirty="0"/>
              <a:t> sont-ils contraires à l’éthique en toutes circonstances ? Doivent-elles être autorisées dans certaines circonstances ?</a:t>
            </a:r>
            <a:endParaRPr lang="fr-FR" sz="2400" dirty="0"/>
          </a:p>
        </p:txBody>
      </p:sp>
      <p:sp>
        <p:nvSpPr>
          <p:cNvPr id="6" name="Espace réservé du contenu 5">
            <a:extLst>
              <a:ext uri="{FF2B5EF4-FFF2-40B4-BE49-F238E27FC236}">
                <a16:creationId xmlns:a16="http://schemas.microsoft.com/office/drawing/2014/main" id="{477BDAFE-24B9-9665-0D5F-59AC57EC1C2F}"/>
              </a:ext>
            </a:extLst>
          </p:cNvPr>
          <p:cNvSpPr>
            <a:spLocks noGrp="1"/>
          </p:cNvSpPr>
          <p:nvPr>
            <p:ph sz="half" idx="2"/>
          </p:nvPr>
        </p:nvSpPr>
        <p:spPr>
          <a:xfrm>
            <a:off x="6172199" y="1825624"/>
            <a:ext cx="5599669" cy="5032375"/>
          </a:xfrm>
        </p:spPr>
        <p:txBody>
          <a:bodyPr>
            <a:normAutofit lnSpcReduction="10000"/>
          </a:bodyPr>
          <a:lstStyle/>
          <a:p>
            <a:r>
              <a:rPr lang="fr-FR" sz="2400" dirty="0" err="1"/>
              <a:t>Research</a:t>
            </a:r>
            <a:r>
              <a:rPr lang="fr-FR" sz="2400" dirty="0"/>
              <a:t> </a:t>
            </a:r>
            <a:r>
              <a:rPr lang="fr-FR" sz="2400" dirty="0" err="1"/>
              <a:t>with</a:t>
            </a:r>
            <a:r>
              <a:rPr lang="fr-FR" sz="2400" dirty="0"/>
              <a:t> </a:t>
            </a:r>
            <a:r>
              <a:rPr lang="fr-FR" sz="2400" dirty="0" err="1"/>
              <a:t>human</a:t>
            </a:r>
            <a:r>
              <a:rPr lang="fr-FR" sz="2400" dirty="0"/>
              <a:t> </a:t>
            </a:r>
            <a:r>
              <a:rPr lang="fr-FR" sz="2400" dirty="0" err="1"/>
              <a:t>subjects</a:t>
            </a:r>
            <a:r>
              <a:rPr lang="fr-FR" sz="2400" dirty="0"/>
              <a:t> </a:t>
            </a:r>
            <a:r>
              <a:rPr lang="fr-FR" sz="2400" dirty="0" err="1"/>
              <a:t>generally</a:t>
            </a:r>
            <a:r>
              <a:rPr lang="fr-FR" sz="2400" dirty="0"/>
              <a:t> </a:t>
            </a:r>
            <a:r>
              <a:rPr lang="fr-FR" sz="2400" dirty="0" err="1"/>
              <a:t>requires</a:t>
            </a:r>
            <a:r>
              <a:rPr lang="fr-FR" sz="2400" dirty="0"/>
              <a:t> the consent of the </a:t>
            </a:r>
            <a:r>
              <a:rPr lang="fr-FR" sz="2400" dirty="0" err="1"/>
              <a:t>subject</a:t>
            </a:r>
            <a:r>
              <a:rPr lang="fr-FR" sz="2400" dirty="0"/>
              <a:t> (</a:t>
            </a:r>
            <a:r>
              <a:rPr lang="fr-FR" sz="2400" dirty="0">
                <a:solidFill>
                  <a:srgbClr val="FF0000"/>
                </a:solidFill>
              </a:rPr>
              <a:t>respect for </a:t>
            </a:r>
            <a:r>
              <a:rPr lang="fr-FR" sz="2400" dirty="0" err="1">
                <a:solidFill>
                  <a:srgbClr val="FF0000"/>
                </a:solidFill>
              </a:rPr>
              <a:t>persons</a:t>
            </a:r>
            <a:r>
              <a:rPr lang="fr-FR" sz="2400" dirty="0"/>
              <a:t>).  </a:t>
            </a:r>
          </a:p>
          <a:p>
            <a:endParaRPr lang="fr-FR" sz="2400" dirty="0"/>
          </a:p>
          <a:p>
            <a:pPr lvl="1">
              <a:buFont typeface="Wingdings" pitchFamily="2" charset="2"/>
              <a:buChar char="Ø"/>
            </a:pPr>
            <a:r>
              <a:rPr lang="fr-CI" dirty="0" err="1"/>
              <a:t>Seek</a:t>
            </a:r>
            <a:r>
              <a:rPr lang="fr-CI" dirty="0"/>
              <a:t> </a:t>
            </a:r>
            <a:r>
              <a:rPr lang="fr-CI" dirty="0" err="1"/>
              <a:t>informed</a:t>
            </a:r>
            <a:r>
              <a:rPr lang="fr-CI" dirty="0"/>
              <a:t> consent (a signature or </a:t>
            </a:r>
            <a:r>
              <a:rPr lang="fr-CI" dirty="0" err="1"/>
              <a:t>fingerprint</a:t>
            </a:r>
            <a:r>
              <a:rPr lang="fr-CI" dirty="0"/>
              <a:t> )</a:t>
            </a:r>
          </a:p>
          <a:p>
            <a:pPr lvl="1">
              <a:buFont typeface="Wingdings" pitchFamily="2" charset="2"/>
              <a:buChar char="Ø"/>
            </a:pPr>
            <a:endParaRPr lang="fr-CI" dirty="0"/>
          </a:p>
          <a:p>
            <a:pPr lvl="1">
              <a:buFont typeface="Wingdings" pitchFamily="2" charset="2"/>
              <a:buChar char="Ø"/>
            </a:pPr>
            <a:r>
              <a:rPr lang="fr-CI" dirty="0" err="1"/>
              <a:t>Keep</a:t>
            </a:r>
            <a:r>
              <a:rPr lang="fr-CI" dirty="0"/>
              <a:t> </a:t>
            </a:r>
            <a:r>
              <a:rPr lang="fr-CI" dirty="0" err="1"/>
              <a:t>individuals</a:t>
            </a:r>
            <a:r>
              <a:rPr lang="fr-CI" dirty="0"/>
              <a:t>’ data </a:t>
            </a:r>
            <a:r>
              <a:rPr lang="fr-CI" dirty="0" err="1"/>
              <a:t>confidential</a:t>
            </a:r>
            <a:r>
              <a:rPr lang="fr-CI" dirty="0"/>
              <a:t>.</a:t>
            </a:r>
            <a:endParaRPr lang="fr-FR" sz="2000" dirty="0"/>
          </a:p>
          <a:p>
            <a:endParaRPr lang="fr-FR" sz="2400" dirty="0"/>
          </a:p>
          <a:p>
            <a:r>
              <a:rPr lang="fr-FR" sz="2400" dirty="0"/>
              <a:t>This </a:t>
            </a:r>
            <a:r>
              <a:rPr lang="fr-FR" sz="2400" dirty="0" err="1"/>
              <a:t>is</a:t>
            </a:r>
            <a:r>
              <a:rPr lang="fr-FR" sz="2400" dirty="0"/>
              <a:t> not </a:t>
            </a:r>
            <a:r>
              <a:rPr lang="fr-FR" sz="2400" dirty="0" err="1"/>
              <a:t>practical</a:t>
            </a:r>
            <a:r>
              <a:rPr lang="fr-FR" sz="2400" dirty="0"/>
              <a:t> for </a:t>
            </a:r>
            <a:r>
              <a:rPr lang="fr-FR" sz="2400" dirty="0" err="1"/>
              <a:t>some</a:t>
            </a:r>
            <a:r>
              <a:rPr lang="fr-FR" sz="2400" dirty="0"/>
              <a:t> </a:t>
            </a:r>
            <a:r>
              <a:rPr lang="fr-FR" sz="2400" dirty="0" err="1"/>
              <a:t>experiments</a:t>
            </a:r>
            <a:r>
              <a:rPr lang="fr-FR" sz="2400" dirty="0"/>
              <a:t>: </a:t>
            </a:r>
            <a:r>
              <a:rPr lang="fr-FR" sz="2400" dirty="0" err="1"/>
              <a:t>sending</a:t>
            </a:r>
            <a:r>
              <a:rPr lang="fr-FR" sz="2400" dirty="0"/>
              <a:t> </a:t>
            </a:r>
            <a:r>
              <a:rPr lang="fr-FR" sz="2400" dirty="0" err="1"/>
              <a:t>election</a:t>
            </a:r>
            <a:r>
              <a:rPr lang="fr-FR" sz="2400" dirty="0"/>
              <a:t> </a:t>
            </a:r>
            <a:r>
              <a:rPr lang="fr-FR" sz="2400" dirty="0" err="1"/>
              <a:t>observers</a:t>
            </a:r>
            <a:r>
              <a:rPr lang="fr-FR" sz="2400" dirty="0"/>
              <a:t> to polling stations. </a:t>
            </a:r>
          </a:p>
          <a:p>
            <a:pPr lvl="1"/>
            <a:r>
              <a:rPr lang="fr-FR" sz="2000" dirty="0"/>
              <a:t>Are </a:t>
            </a:r>
            <a:r>
              <a:rPr lang="fr-FR" sz="2000" dirty="0" err="1"/>
              <a:t>these</a:t>
            </a:r>
            <a:r>
              <a:rPr lang="fr-FR" sz="2000" dirty="0"/>
              <a:t> </a:t>
            </a:r>
            <a:r>
              <a:rPr lang="fr-FR" sz="2000" dirty="0" err="1"/>
              <a:t>experiments</a:t>
            </a:r>
            <a:r>
              <a:rPr lang="fr-FR" sz="2000" dirty="0"/>
              <a:t> </a:t>
            </a:r>
            <a:r>
              <a:rPr lang="fr-FR" sz="2000" dirty="0" err="1"/>
              <a:t>unethical</a:t>
            </a:r>
            <a:r>
              <a:rPr lang="fr-FR" sz="2000" dirty="0"/>
              <a:t> </a:t>
            </a:r>
            <a:r>
              <a:rPr lang="fr-FR" sz="2000" dirty="0" err="1"/>
              <a:t>under</a:t>
            </a:r>
            <a:r>
              <a:rPr lang="fr-FR" sz="2000" dirty="0"/>
              <a:t> all </a:t>
            </a:r>
            <a:r>
              <a:rPr lang="fr-FR" sz="2000" dirty="0" err="1"/>
              <a:t>circumstances</a:t>
            </a:r>
            <a:r>
              <a:rPr lang="fr-FR" sz="2000" dirty="0"/>
              <a:t>?  </a:t>
            </a:r>
            <a:r>
              <a:rPr lang="fr-FR" sz="2000" dirty="0" err="1"/>
              <a:t>Should</a:t>
            </a:r>
            <a:r>
              <a:rPr lang="fr-FR" sz="2000" dirty="0"/>
              <a:t> </a:t>
            </a:r>
            <a:r>
              <a:rPr lang="fr-FR" sz="2000" dirty="0" err="1"/>
              <a:t>they</a:t>
            </a:r>
            <a:r>
              <a:rPr lang="fr-FR" sz="2000" dirty="0"/>
              <a:t> </a:t>
            </a:r>
            <a:r>
              <a:rPr lang="fr-FR" sz="2000" dirty="0" err="1"/>
              <a:t>be</a:t>
            </a:r>
            <a:r>
              <a:rPr lang="fr-FR" sz="2000" dirty="0"/>
              <a:t> permissible </a:t>
            </a:r>
            <a:r>
              <a:rPr lang="fr-FR" sz="2000" dirty="0" err="1"/>
              <a:t>under</a:t>
            </a:r>
            <a:r>
              <a:rPr lang="fr-FR" sz="2000" dirty="0"/>
              <a:t> certain </a:t>
            </a:r>
            <a:r>
              <a:rPr lang="fr-FR" sz="2000" dirty="0" err="1"/>
              <a:t>circumstances</a:t>
            </a:r>
            <a:r>
              <a:rPr lang="fr-FR" sz="2000" dirty="0"/>
              <a:t>?</a:t>
            </a:r>
            <a:endParaRPr lang="fr-FR" sz="2400" dirty="0"/>
          </a:p>
        </p:txBody>
      </p:sp>
    </p:spTree>
    <p:extLst>
      <p:ext uri="{BB962C8B-B14F-4D97-AF65-F5344CB8AC3E}">
        <p14:creationId xmlns:p14="http://schemas.microsoft.com/office/powerpoint/2010/main" val="30469618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46A67101-4C00-3DF7-9D4E-9123C1D2FA1F}"/>
              </a:ext>
            </a:extLst>
          </p:cNvPr>
          <p:cNvSpPr>
            <a:spLocks noGrp="1"/>
          </p:cNvSpPr>
          <p:nvPr>
            <p:ph type="title"/>
          </p:nvPr>
        </p:nvSpPr>
        <p:spPr>
          <a:xfrm>
            <a:off x="259491" y="185352"/>
            <a:ext cx="11653835" cy="833552"/>
          </a:xfrm>
        </p:spPr>
        <p:txBody>
          <a:bodyPr>
            <a:noAutofit/>
          </a:bodyPr>
          <a:lstStyle/>
          <a:p>
            <a:r>
              <a:rPr lang="fr-FR" sz="2400" b="1" dirty="0">
                <a:solidFill>
                  <a:srgbClr val="0070C0"/>
                </a:solidFill>
              </a:rPr>
              <a:t>Quelques questions éthiques basiques à se poser dès la conception de la recherche expérimentale / </a:t>
            </a:r>
            <a:r>
              <a:rPr lang="fr-FR" sz="2400" b="1" i="1" dirty="0" err="1">
                <a:solidFill>
                  <a:srgbClr val="00B050"/>
                </a:solidFill>
              </a:rPr>
              <a:t>Some</a:t>
            </a:r>
            <a:r>
              <a:rPr lang="fr-FR" sz="2400" b="1" i="1" dirty="0">
                <a:solidFill>
                  <a:srgbClr val="00B050"/>
                </a:solidFill>
              </a:rPr>
              <a:t> basic </a:t>
            </a:r>
            <a:r>
              <a:rPr lang="fr-FR" sz="2400" b="1" i="1" dirty="0" err="1">
                <a:solidFill>
                  <a:srgbClr val="00B050"/>
                </a:solidFill>
              </a:rPr>
              <a:t>ethical</a:t>
            </a:r>
            <a:r>
              <a:rPr lang="fr-FR" sz="2400" b="1" i="1" dirty="0">
                <a:solidFill>
                  <a:srgbClr val="00B050"/>
                </a:solidFill>
              </a:rPr>
              <a:t> questions to </a:t>
            </a:r>
            <a:r>
              <a:rPr lang="fr-FR" sz="2400" b="1" i="1" dirty="0" err="1">
                <a:solidFill>
                  <a:srgbClr val="00B050"/>
                </a:solidFill>
              </a:rPr>
              <a:t>ask</a:t>
            </a:r>
            <a:r>
              <a:rPr lang="fr-FR" sz="2400" b="1" i="1" dirty="0">
                <a:solidFill>
                  <a:srgbClr val="00B050"/>
                </a:solidFill>
              </a:rPr>
              <a:t> </a:t>
            </a:r>
            <a:r>
              <a:rPr lang="fr-FR" sz="2400" b="1" i="1" dirty="0" err="1">
                <a:solidFill>
                  <a:srgbClr val="00B050"/>
                </a:solidFill>
              </a:rPr>
              <a:t>when</a:t>
            </a:r>
            <a:r>
              <a:rPr lang="fr-FR" sz="2400" b="1" i="1" dirty="0">
                <a:solidFill>
                  <a:srgbClr val="00B050"/>
                </a:solidFill>
              </a:rPr>
              <a:t> </a:t>
            </a:r>
            <a:r>
              <a:rPr lang="fr-FR" sz="2400" b="1" i="1" dirty="0" err="1">
                <a:solidFill>
                  <a:srgbClr val="00B050"/>
                </a:solidFill>
              </a:rPr>
              <a:t>designing</a:t>
            </a:r>
            <a:r>
              <a:rPr lang="fr-FR" sz="2400" b="1" i="1" dirty="0">
                <a:solidFill>
                  <a:srgbClr val="00B050"/>
                </a:solidFill>
              </a:rPr>
              <a:t> </a:t>
            </a:r>
            <a:r>
              <a:rPr lang="fr-FR" sz="2400" b="1" i="1" dirty="0" err="1">
                <a:solidFill>
                  <a:srgbClr val="00B050"/>
                </a:solidFill>
              </a:rPr>
              <a:t>experimental</a:t>
            </a:r>
            <a:r>
              <a:rPr lang="fr-FR" sz="2400" b="1" i="1" dirty="0">
                <a:solidFill>
                  <a:srgbClr val="00B050"/>
                </a:solidFill>
              </a:rPr>
              <a:t> </a:t>
            </a:r>
            <a:r>
              <a:rPr lang="fr-FR" sz="2400" b="1" i="1" dirty="0" err="1">
                <a:solidFill>
                  <a:srgbClr val="00B050"/>
                </a:solidFill>
              </a:rPr>
              <a:t>research</a:t>
            </a:r>
            <a:endParaRPr lang="fr-FR" sz="2400" b="1" i="1" dirty="0">
              <a:solidFill>
                <a:srgbClr val="00B050"/>
              </a:solidFill>
            </a:endParaRPr>
          </a:p>
        </p:txBody>
      </p:sp>
      <p:sp>
        <p:nvSpPr>
          <p:cNvPr id="5" name="Espace réservé du contenu 4">
            <a:extLst>
              <a:ext uri="{FF2B5EF4-FFF2-40B4-BE49-F238E27FC236}">
                <a16:creationId xmlns:a16="http://schemas.microsoft.com/office/drawing/2014/main" id="{E6C8056A-0DBE-2549-2286-AD0549B7BAB1}"/>
              </a:ext>
            </a:extLst>
          </p:cNvPr>
          <p:cNvSpPr>
            <a:spLocks noGrp="1"/>
          </p:cNvSpPr>
          <p:nvPr>
            <p:ph sz="half" idx="1"/>
          </p:nvPr>
        </p:nvSpPr>
        <p:spPr>
          <a:xfrm>
            <a:off x="420130" y="1123406"/>
            <a:ext cx="5599670" cy="5549243"/>
          </a:xfrm>
        </p:spPr>
        <p:txBody>
          <a:bodyPr>
            <a:noAutofit/>
          </a:bodyPr>
          <a:lstStyle/>
          <a:p>
            <a:r>
              <a:rPr lang="fr-FR" sz="2000" dirty="0"/>
              <a:t>La recherche sur des sujets humains nécessite généralement de minimiser les risques pour les participants et de maximiser les avantages pour la société (</a:t>
            </a:r>
            <a:r>
              <a:rPr lang="fr-FR" sz="2000" dirty="0">
                <a:solidFill>
                  <a:srgbClr val="FF0000"/>
                </a:solidFill>
              </a:rPr>
              <a:t>principe de bienfaisance</a:t>
            </a:r>
            <a:r>
              <a:rPr lang="fr-FR" sz="2000" dirty="0"/>
              <a:t>).</a:t>
            </a:r>
          </a:p>
          <a:p>
            <a:endParaRPr lang="fr-FR" sz="2000" dirty="0">
              <a:solidFill>
                <a:srgbClr val="000000"/>
              </a:solidFill>
            </a:endParaRPr>
          </a:p>
          <a:p>
            <a:r>
              <a:rPr lang="fr-CI" sz="2000" dirty="0">
                <a:solidFill>
                  <a:srgbClr val="000000"/>
                </a:solidFill>
              </a:rPr>
              <a:t>La </a:t>
            </a:r>
            <a:r>
              <a:rPr lang="fr-CI" sz="2000" dirty="0"/>
              <a:t>recherche</a:t>
            </a:r>
            <a:r>
              <a:rPr lang="fr-CI" sz="2000" dirty="0">
                <a:solidFill>
                  <a:srgbClr val="000000"/>
                </a:solidFill>
              </a:rPr>
              <a:t> ne doit pas nuire</a:t>
            </a:r>
          </a:p>
          <a:p>
            <a:pPr marL="457200" lvl="1" indent="0">
              <a:buNone/>
            </a:pPr>
            <a:endParaRPr lang="fr-FR" sz="2000" dirty="0"/>
          </a:p>
          <a:p>
            <a:r>
              <a:rPr lang="fr-FR" sz="2000" dirty="0"/>
              <a:t>Une intervention récente dans une école d’un village pauvre au Niger (Tahoua) confronté souvent à la famine. L’intervention à consister à mettre en place une cantine scolaire qui offre un déjeuner non pas à tous les enfants pauvres de l’école, mais à la moitié d’entre eux. L’objectif de l’intervention était de savoir si la cantine scolaire allait améliorer leurs résultats scolaires. </a:t>
            </a:r>
          </a:p>
          <a:p>
            <a:pPr lvl="1"/>
            <a:r>
              <a:rPr lang="fr-FR" sz="2000" dirty="0"/>
              <a:t>Est-ce que cette intervention est éthique ?</a:t>
            </a:r>
          </a:p>
        </p:txBody>
      </p:sp>
      <p:sp>
        <p:nvSpPr>
          <p:cNvPr id="6" name="Espace réservé du contenu 5">
            <a:extLst>
              <a:ext uri="{FF2B5EF4-FFF2-40B4-BE49-F238E27FC236}">
                <a16:creationId xmlns:a16="http://schemas.microsoft.com/office/drawing/2014/main" id="{477BDAFE-24B9-9665-0D5F-59AC57EC1C2F}"/>
              </a:ext>
            </a:extLst>
          </p:cNvPr>
          <p:cNvSpPr>
            <a:spLocks noGrp="1"/>
          </p:cNvSpPr>
          <p:nvPr>
            <p:ph sz="half" idx="2"/>
          </p:nvPr>
        </p:nvSpPr>
        <p:spPr>
          <a:xfrm>
            <a:off x="6172199" y="1123406"/>
            <a:ext cx="5599669" cy="5549243"/>
          </a:xfrm>
        </p:spPr>
        <p:txBody>
          <a:bodyPr>
            <a:normAutofit/>
          </a:bodyPr>
          <a:lstStyle/>
          <a:p>
            <a:r>
              <a:rPr lang="fr-FR" sz="2000" dirty="0" err="1"/>
              <a:t>Research</a:t>
            </a:r>
            <a:r>
              <a:rPr lang="fr-FR" sz="2000" dirty="0"/>
              <a:t> </a:t>
            </a:r>
            <a:r>
              <a:rPr lang="fr-FR" sz="2000" dirty="0" err="1"/>
              <a:t>with</a:t>
            </a:r>
            <a:r>
              <a:rPr lang="fr-FR" sz="2000" dirty="0"/>
              <a:t> </a:t>
            </a:r>
            <a:r>
              <a:rPr lang="fr-FR" sz="2000" dirty="0" err="1"/>
              <a:t>human</a:t>
            </a:r>
            <a:r>
              <a:rPr lang="fr-FR" sz="2000" dirty="0"/>
              <a:t> </a:t>
            </a:r>
            <a:r>
              <a:rPr lang="fr-FR" sz="2000" dirty="0" err="1"/>
              <a:t>subjects</a:t>
            </a:r>
            <a:r>
              <a:rPr lang="fr-FR" sz="2000" dirty="0"/>
              <a:t> </a:t>
            </a:r>
            <a:r>
              <a:rPr lang="fr-FR" sz="2000" dirty="0" err="1"/>
              <a:t>generally</a:t>
            </a:r>
            <a:r>
              <a:rPr lang="fr-FR" sz="2000" dirty="0"/>
              <a:t> </a:t>
            </a:r>
            <a:r>
              <a:rPr lang="fr-FR" sz="2000" dirty="0" err="1"/>
              <a:t>requires</a:t>
            </a:r>
            <a:r>
              <a:rPr lang="fr-FR" sz="2000" dirty="0"/>
              <a:t> </a:t>
            </a:r>
            <a:r>
              <a:rPr lang="fr-FR" sz="2000" dirty="0" err="1"/>
              <a:t>minimizing</a:t>
            </a:r>
            <a:r>
              <a:rPr lang="fr-FR" sz="2000" dirty="0"/>
              <a:t> </a:t>
            </a:r>
            <a:r>
              <a:rPr lang="fr-FR" sz="2000" dirty="0" err="1"/>
              <a:t>risks</a:t>
            </a:r>
            <a:r>
              <a:rPr lang="fr-FR" sz="2000" dirty="0"/>
              <a:t> to participants and </a:t>
            </a:r>
            <a:r>
              <a:rPr lang="fr-FR" sz="2000" dirty="0" err="1"/>
              <a:t>maximizing</a:t>
            </a:r>
            <a:r>
              <a:rPr lang="fr-FR" sz="2000" dirty="0"/>
              <a:t> </a:t>
            </a:r>
            <a:r>
              <a:rPr lang="fr-FR" sz="2000" dirty="0" err="1"/>
              <a:t>benefits</a:t>
            </a:r>
            <a:r>
              <a:rPr lang="fr-FR" sz="2000" dirty="0"/>
              <a:t> to society (</a:t>
            </a:r>
            <a:r>
              <a:rPr lang="fr-FR" sz="2000" dirty="0" err="1">
                <a:solidFill>
                  <a:srgbClr val="FF0000"/>
                </a:solidFill>
              </a:rPr>
              <a:t>Principle</a:t>
            </a:r>
            <a:r>
              <a:rPr lang="fr-FR" sz="2000" dirty="0">
                <a:solidFill>
                  <a:srgbClr val="FF0000"/>
                </a:solidFill>
              </a:rPr>
              <a:t> of </a:t>
            </a:r>
            <a:r>
              <a:rPr lang="fr-FR" sz="2000" dirty="0" err="1">
                <a:solidFill>
                  <a:srgbClr val="FF0000"/>
                </a:solidFill>
              </a:rPr>
              <a:t>beneficence</a:t>
            </a:r>
            <a:r>
              <a:rPr lang="fr-FR" sz="2000" dirty="0"/>
              <a:t>).  </a:t>
            </a:r>
          </a:p>
          <a:p>
            <a:endParaRPr lang="fr-FR" sz="2000" dirty="0"/>
          </a:p>
          <a:p>
            <a:r>
              <a:rPr lang="fr-FR" sz="2000" dirty="0" err="1"/>
              <a:t>Research</a:t>
            </a:r>
            <a:r>
              <a:rPr lang="fr-FR" sz="2000" dirty="0"/>
              <a:t> </a:t>
            </a:r>
            <a:r>
              <a:rPr lang="fr-FR" sz="2000" dirty="0" err="1"/>
              <a:t>should</a:t>
            </a:r>
            <a:r>
              <a:rPr lang="fr-FR" sz="2000" dirty="0"/>
              <a:t> do no (</a:t>
            </a:r>
            <a:r>
              <a:rPr lang="fr-FR" sz="2000" dirty="0" err="1"/>
              <a:t>known</a:t>
            </a:r>
            <a:r>
              <a:rPr lang="fr-FR" sz="2000" dirty="0"/>
              <a:t>) </a:t>
            </a:r>
            <a:r>
              <a:rPr lang="fr-FR" sz="2000" dirty="0" err="1"/>
              <a:t>harm</a:t>
            </a:r>
            <a:endParaRPr lang="fr-FR" sz="2000" dirty="0"/>
          </a:p>
          <a:p>
            <a:pPr marL="0" indent="0">
              <a:buNone/>
            </a:pPr>
            <a:endParaRPr lang="fr-FR" sz="2000" dirty="0"/>
          </a:p>
          <a:p>
            <a:r>
              <a:rPr lang="en-US" sz="2000" noProof="0" dirty="0"/>
              <a:t>A recent </a:t>
            </a:r>
            <a:r>
              <a:rPr lang="en-US" sz="2000" dirty="0"/>
              <a:t>intervention took place in a school in a poor village in Niger (Tahoua), which frequently </a:t>
            </a:r>
            <a:r>
              <a:rPr lang="en-US" sz="2000" noProof="0" dirty="0"/>
              <a:t>faces famine. The intervention consisted of setting up a school canteen that provides lunch not to all the poor children in the school, but to half of them. The objective of the intervention was </a:t>
            </a:r>
            <a:r>
              <a:rPr lang="en-US" sz="2000" dirty="0"/>
              <a:t>to determine if the school canteen would improve students' </a:t>
            </a:r>
            <a:r>
              <a:rPr lang="en-US" sz="2000" noProof="0" dirty="0"/>
              <a:t>academic performance.</a:t>
            </a:r>
          </a:p>
          <a:p>
            <a:pPr lvl="1"/>
            <a:r>
              <a:rPr lang="en-US" sz="2000" noProof="0" dirty="0"/>
              <a:t>Is this ethical?  </a:t>
            </a:r>
            <a:endParaRPr lang="fr-FR" sz="2000" dirty="0"/>
          </a:p>
        </p:txBody>
      </p:sp>
    </p:spTree>
    <p:extLst>
      <p:ext uri="{BB962C8B-B14F-4D97-AF65-F5344CB8AC3E}">
        <p14:creationId xmlns:p14="http://schemas.microsoft.com/office/powerpoint/2010/main" val="36732419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46A67101-4C00-3DF7-9D4E-9123C1D2FA1F}"/>
              </a:ext>
            </a:extLst>
          </p:cNvPr>
          <p:cNvSpPr>
            <a:spLocks noGrp="1"/>
          </p:cNvSpPr>
          <p:nvPr>
            <p:ph type="title"/>
          </p:nvPr>
        </p:nvSpPr>
        <p:spPr>
          <a:xfrm>
            <a:off x="220303" y="185351"/>
            <a:ext cx="11244649" cy="1325563"/>
          </a:xfrm>
        </p:spPr>
        <p:txBody>
          <a:bodyPr>
            <a:noAutofit/>
          </a:bodyPr>
          <a:lstStyle/>
          <a:p>
            <a:r>
              <a:rPr lang="fr-FR" sz="2400" b="1" dirty="0">
                <a:solidFill>
                  <a:srgbClr val="0070C0"/>
                </a:solidFill>
              </a:rPr>
              <a:t>Quelques questions éthiques basiques à se poser dès la conception de la recherche expérimentale / </a:t>
            </a:r>
            <a:r>
              <a:rPr lang="fr-FR" sz="2400" b="1" i="1" dirty="0" err="1">
                <a:solidFill>
                  <a:srgbClr val="00B050"/>
                </a:solidFill>
              </a:rPr>
              <a:t>Some</a:t>
            </a:r>
            <a:r>
              <a:rPr lang="fr-FR" sz="2400" b="1" i="1" dirty="0">
                <a:solidFill>
                  <a:srgbClr val="00B050"/>
                </a:solidFill>
              </a:rPr>
              <a:t> basic </a:t>
            </a:r>
            <a:r>
              <a:rPr lang="fr-FR" sz="2400" b="1" i="1" dirty="0" err="1">
                <a:solidFill>
                  <a:srgbClr val="00B050"/>
                </a:solidFill>
              </a:rPr>
              <a:t>ethical</a:t>
            </a:r>
            <a:r>
              <a:rPr lang="fr-FR" sz="2400" b="1" i="1" dirty="0">
                <a:solidFill>
                  <a:srgbClr val="00B050"/>
                </a:solidFill>
              </a:rPr>
              <a:t> questions to </a:t>
            </a:r>
            <a:r>
              <a:rPr lang="fr-FR" sz="2400" b="1" i="1" dirty="0" err="1">
                <a:solidFill>
                  <a:srgbClr val="00B050"/>
                </a:solidFill>
              </a:rPr>
              <a:t>ask</a:t>
            </a:r>
            <a:r>
              <a:rPr lang="fr-FR" sz="2400" b="1" i="1" dirty="0">
                <a:solidFill>
                  <a:srgbClr val="00B050"/>
                </a:solidFill>
              </a:rPr>
              <a:t> </a:t>
            </a:r>
            <a:r>
              <a:rPr lang="fr-FR" sz="2400" b="1" i="1" dirty="0" err="1">
                <a:solidFill>
                  <a:srgbClr val="00B050"/>
                </a:solidFill>
              </a:rPr>
              <a:t>when</a:t>
            </a:r>
            <a:r>
              <a:rPr lang="fr-FR" sz="2400" b="1" i="1" dirty="0">
                <a:solidFill>
                  <a:srgbClr val="00B050"/>
                </a:solidFill>
              </a:rPr>
              <a:t> </a:t>
            </a:r>
            <a:r>
              <a:rPr lang="fr-FR" sz="2400" b="1" i="1" dirty="0" err="1">
                <a:solidFill>
                  <a:srgbClr val="00B050"/>
                </a:solidFill>
              </a:rPr>
              <a:t>designing</a:t>
            </a:r>
            <a:r>
              <a:rPr lang="fr-FR" sz="2400" b="1" i="1" dirty="0">
                <a:solidFill>
                  <a:srgbClr val="00B050"/>
                </a:solidFill>
              </a:rPr>
              <a:t> </a:t>
            </a:r>
            <a:r>
              <a:rPr lang="fr-FR" sz="2400" b="1" i="1" dirty="0" err="1">
                <a:solidFill>
                  <a:srgbClr val="00B050"/>
                </a:solidFill>
              </a:rPr>
              <a:t>experimental</a:t>
            </a:r>
            <a:r>
              <a:rPr lang="fr-FR" sz="2400" b="1" i="1" dirty="0">
                <a:solidFill>
                  <a:srgbClr val="00B050"/>
                </a:solidFill>
              </a:rPr>
              <a:t> </a:t>
            </a:r>
            <a:r>
              <a:rPr lang="fr-FR" sz="2400" b="1" i="1" dirty="0" err="1">
                <a:solidFill>
                  <a:srgbClr val="00B050"/>
                </a:solidFill>
              </a:rPr>
              <a:t>research</a:t>
            </a:r>
            <a:endParaRPr lang="fr-FR" sz="2400" b="1" i="1" dirty="0">
              <a:solidFill>
                <a:srgbClr val="00B050"/>
              </a:solidFill>
            </a:endParaRPr>
          </a:p>
        </p:txBody>
      </p:sp>
      <p:sp>
        <p:nvSpPr>
          <p:cNvPr id="5" name="Espace réservé du contenu 4">
            <a:extLst>
              <a:ext uri="{FF2B5EF4-FFF2-40B4-BE49-F238E27FC236}">
                <a16:creationId xmlns:a16="http://schemas.microsoft.com/office/drawing/2014/main" id="{E6C8056A-0DBE-2549-2286-AD0549B7BAB1}"/>
              </a:ext>
            </a:extLst>
          </p:cNvPr>
          <p:cNvSpPr>
            <a:spLocks noGrp="1"/>
          </p:cNvSpPr>
          <p:nvPr>
            <p:ph sz="half" idx="1"/>
          </p:nvPr>
        </p:nvSpPr>
        <p:spPr>
          <a:xfrm>
            <a:off x="420130" y="1510914"/>
            <a:ext cx="5599670" cy="5161735"/>
          </a:xfrm>
        </p:spPr>
        <p:txBody>
          <a:bodyPr>
            <a:normAutofit/>
          </a:bodyPr>
          <a:lstStyle/>
          <a:p>
            <a:endParaRPr lang="fr-FR" sz="2400" dirty="0"/>
          </a:p>
          <a:p>
            <a:r>
              <a:rPr lang="fr-FR" sz="2200" dirty="0"/>
              <a:t>La recherche sur des sujets humains exige généralement une répartition équitable des risques et des avantages (</a:t>
            </a:r>
            <a:r>
              <a:rPr lang="fr-FR" sz="2200" dirty="0">
                <a:solidFill>
                  <a:srgbClr val="FF0000"/>
                </a:solidFill>
              </a:rPr>
              <a:t>principe de justice</a:t>
            </a:r>
            <a:r>
              <a:rPr lang="fr-FR" sz="2200" dirty="0"/>
              <a:t>).</a:t>
            </a:r>
          </a:p>
          <a:p>
            <a:r>
              <a:rPr lang="fr-FR" sz="2200" dirty="0"/>
              <a:t>Les expériences randomisées donnent un traitement à certains et pas à d’autres. Ils travaillent avec des sujets disponibles. </a:t>
            </a:r>
            <a:r>
              <a:rPr lang="fr-FR" sz="2200" i="1" dirty="0"/>
              <a:t>Les expériences randomisées répondent-elles/peuvent-elles répondre à cette norme ?</a:t>
            </a:r>
          </a:p>
          <a:p>
            <a:r>
              <a:rPr lang="fr-FR" sz="2200" dirty="0"/>
              <a:t>Ex : Les tests de nouveaux médicaments anticancéreux sont souvent effectués avec des personnes pauvres qui acceptent de faire partie du groupe de traitement mais qui n’ont pas les moyens de payer le médicament lorsqu’il a passé le test.</a:t>
            </a:r>
          </a:p>
        </p:txBody>
      </p:sp>
      <p:sp>
        <p:nvSpPr>
          <p:cNvPr id="6" name="Espace réservé du contenu 5">
            <a:extLst>
              <a:ext uri="{FF2B5EF4-FFF2-40B4-BE49-F238E27FC236}">
                <a16:creationId xmlns:a16="http://schemas.microsoft.com/office/drawing/2014/main" id="{477BDAFE-24B9-9665-0D5F-59AC57EC1C2F}"/>
              </a:ext>
            </a:extLst>
          </p:cNvPr>
          <p:cNvSpPr>
            <a:spLocks noGrp="1"/>
          </p:cNvSpPr>
          <p:nvPr>
            <p:ph sz="half" idx="2"/>
          </p:nvPr>
        </p:nvSpPr>
        <p:spPr>
          <a:xfrm>
            <a:off x="6172199" y="1825624"/>
            <a:ext cx="5599669" cy="4847025"/>
          </a:xfrm>
        </p:spPr>
        <p:txBody>
          <a:bodyPr>
            <a:normAutofit/>
          </a:bodyPr>
          <a:lstStyle/>
          <a:p>
            <a:r>
              <a:rPr lang="fr-FR" sz="2200" dirty="0"/>
              <a:t>Human </a:t>
            </a:r>
            <a:r>
              <a:rPr lang="fr-FR" sz="2200" dirty="0" err="1"/>
              <a:t>subjects</a:t>
            </a:r>
            <a:r>
              <a:rPr lang="fr-FR" sz="2200" dirty="0"/>
              <a:t> </a:t>
            </a:r>
            <a:r>
              <a:rPr lang="fr-FR" sz="2200" dirty="0" err="1"/>
              <a:t>research</a:t>
            </a:r>
            <a:r>
              <a:rPr lang="fr-FR" sz="2200" dirty="0"/>
              <a:t> </a:t>
            </a:r>
            <a:r>
              <a:rPr lang="fr-FR" sz="2200" dirty="0" err="1"/>
              <a:t>generally</a:t>
            </a:r>
            <a:r>
              <a:rPr lang="fr-FR" sz="2200" dirty="0"/>
              <a:t> </a:t>
            </a:r>
            <a:r>
              <a:rPr lang="fr-FR" sz="2200" dirty="0" err="1"/>
              <a:t>requires</a:t>
            </a:r>
            <a:r>
              <a:rPr lang="fr-FR" sz="2200" dirty="0"/>
              <a:t> </a:t>
            </a:r>
            <a:r>
              <a:rPr lang="fr-FR" sz="2200" dirty="0" err="1"/>
              <a:t>that</a:t>
            </a:r>
            <a:r>
              <a:rPr lang="fr-FR" sz="2200" dirty="0"/>
              <a:t> </a:t>
            </a:r>
            <a:r>
              <a:rPr lang="fr-FR" sz="2200" dirty="0" err="1"/>
              <a:t>there</a:t>
            </a:r>
            <a:r>
              <a:rPr lang="fr-FR" sz="2200" dirty="0"/>
              <a:t> </a:t>
            </a:r>
            <a:r>
              <a:rPr lang="fr-FR" sz="2200" dirty="0" err="1"/>
              <a:t>is</a:t>
            </a:r>
            <a:r>
              <a:rPr lang="fr-FR" sz="2200" dirty="0"/>
              <a:t> </a:t>
            </a:r>
            <a:r>
              <a:rPr lang="fr-FR" sz="2200" dirty="0" err="1"/>
              <a:t>fairness</a:t>
            </a:r>
            <a:r>
              <a:rPr lang="fr-FR" sz="2200" dirty="0"/>
              <a:t> in the distribution of </a:t>
            </a:r>
            <a:r>
              <a:rPr lang="fr-FR" sz="2200" dirty="0" err="1"/>
              <a:t>risks</a:t>
            </a:r>
            <a:r>
              <a:rPr lang="fr-FR" sz="2200" dirty="0"/>
              <a:t> and </a:t>
            </a:r>
            <a:r>
              <a:rPr lang="fr-FR" sz="2200" dirty="0" err="1"/>
              <a:t>benefits</a:t>
            </a:r>
            <a:r>
              <a:rPr lang="fr-FR" sz="2200" dirty="0"/>
              <a:t> (</a:t>
            </a:r>
            <a:r>
              <a:rPr lang="fr-FR" sz="2200" dirty="0" err="1">
                <a:solidFill>
                  <a:srgbClr val="FF0000"/>
                </a:solidFill>
              </a:rPr>
              <a:t>Principle</a:t>
            </a:r>
            <a:r>
              <a:rPr lang="fr-FR" sz="2200" dirty="0">
                <a:solidFill>
                  <a:srgbClr val="FF0000"/>
                </a:solidFill>
              </a:rPr>
              <a:t> of Justice</a:t>
            </a:r>
            <a:r>
              <a:rPr lang="fr-FR" sz="2200" dirty="0"/>
              <a:t>).  </a:t>
            </a:r>
          </a:p>
          <a:p>
            <a:endParaRPr lang="fr-FR" sz="2200" dirty="0"/>
          </a:p>
          <a:p>
            <a:r>
              <a:rPr lang="fr-FR" sz="2200" dirty="0" err="1"/>
              <a:t>Randomized</a:t>
            </a:r>
            <a:r>
              <a:rPr lang="fr-FR" sz="2200" dirty="0"/>
              <a:t> </a:t>
            </a:r>
            <a:r>
              <a:rPr lang="fr-FR" sz="2200" dirty="0" err="1"/>
              <a:t>experiments</a:t>
            </a:r>
            <a:r>
              <a:rPr lang="fr-FR" sz="2200" dirty="0"/>
              <a:t> </a:t>
            </a:r>
            <a:r>
              <a:rPr lang="fr-FR" sz="2200" dirty="0" err="1"/>
              <a:t>give</a:t>
            </a:r>
            <a:r>
              <a:rPr lang="fr-FR" sz="2200" dirty="0"/>
              <a:t> </a:t>
            </a:r>
            <a:r>
              <a:rPr lang="fr-FR" sz="2200" dirty="0" err="1"/>
              <a:t>treatment</a:t>
            </a:r>
            <a:r>
              <a:rPr lang="fr-FR" sz="2200" dirty="0"/>
              <a:t> to </a:t>
            </a:r>
            <a:r>
              <a:rPr lang="fr-FR" sz="2200" dirty="0" err="1"/>
              <a:t>some</a:t>
            </a:r>
            <a:r>
              <a:rPr lang="fr-FR" sz="2200" dirty="0"/>
              <a:t> and not </a:t>
            </a:r>
            <a:r>
              <a:rPr lang="fr-FR" sz="2200" dirty="0" err="1"/>
              <a:t>others</a:t>
            </a:r>
            <a:r>
              <a:rPr lang="fr-FR" sz="2200" dirty="0"/>
              <a:t>.  </a:t>
            </a:r>
            <a:r>
              <a:rPr lang="fr-FR" sz="2200" dirty="0" err="1"/>
              <a:t>They</a:t>
            </a:r>
            <a:r>
              <a:rPr lang="fr-FR" sz="2200" dirty="0"/>
              <a:t> </a:t>
            </a:r>
            <a:r>
              <a:rPr lang="fr-FR" sz="2200" dirty="0" err="1"/>
              <a:t>work</a:t>
            </a:r>
            <a:r>
              <a:rPr lang="fr-FR" sz="2200" dirty="0"/>
              <a:t> </a:t>
            </a:r>
            <a:r>
              <a:rPr lang="fr-FR" sz="2200" dirty="0" err="1"/>
              <a:t>with</a:t>
            </a:r>
            <a:r>
              <a:rPr lang="fr-FR" sz="2200" dirty="0"/>
              <a:t> </a:t>
            </a:r>
            <a:r>
              <a:rPr lang="fr-FR" sz="2200" dirty="0" err="1"/>
              <a:t>available</a:t>
            </a:r>
            <a:r>
              <a:rPr lang="fr-FR" sz="2200" dirty="0"/>
              <a:t> </a:t>
            </a:r>
            <a:r>
              <a:rPr lang="fr-FR" sz="2200" dirty="0" err="1"/>
              <a:t>subjects</a:t>
            </a:r>
            <a:r>
              <a:rPr lang="fr-FR" sz="2200" dirty="0"/>
              <a:t>. </a:t>
            </a:r>
            <a:r>
              <a:rPr lang="fr-FR" sz="2200" i="1" dirty="0"/>
              <a:t> Do/can </a:t>
            </a:r>
            <a:r>
              <a:rPr lang="fr-FR" sz="2200" i="1" dirty="0" err="1"/>
              <a:t>randomized</a:t>
            </a:r>
            <a:r>
              <a:rPr lang="fr-FR" sz="2200" i="1" dirty="0"/>
              <a:t> </a:t>
            </a:r>
            <a:r>
              <a:rPr lang="fr-FR" sz="2200" i="1" dirty="0" err="1"/>
              <a:t>experiments</a:t>
            </a:r>
            <a:r>
              <a:rPr lang="fr-FR" sz="2200" i="1" dirty="0"/>
              <a:t> </a:t>
            </a:r>
            <a:r>
              <a:rPr lang="fr-FR" sz="2200" i="1" dirty="0" err="1"/>
              <a:t>meet</a:t>
            </a:r>
            <a:r>
              <a:rPr lang="fr-FR" sz="2200" i="1" dirty="0"/>
              <a:t> </a:t>
            </a:r>
            <a:r>
              <a:rPr lang="fr-FR" sz="2200" i="1" dirty="0" err="1"/>
              <a:t>this</a:t>
            </a:r>
            <a:r>
              <a:rPr lang="fr-FR" sz="2200" i="1" dirty="0"/>
              <a:t> standard?</a:t>
            </a:r>
            <a:r>
              <a:rPr lang="fr-FR" sz="2200" dirty="0"/>
              <a:t>  </a:t>
            </a:r>
          </a:p>
          <a:p>
            <a:pPr marL="0" indent="0">
              <a:buNone/>
            </a:pPr>
            <a:endParaRPr lang="fr-FR" sz="2200" dirty="0"/>
          </a:p>
          <a:p>
            <a:r>
              <a:rPr lang="fr-FR" sz="2200" dirty="0"/>
              <a:t>Ex: </a:t>
            </a:r>
            <a:r>
              <a:rPr lang="fr-FR" sz="2200" dirty="0" err="1"/>
              <a:t>Testing</a:t>
            </a:r>
            <a:r>
              <a:rPr lang="fr-FR" sz="2200" dirty="0"/>
              <a:t> of new cancer </a:t>
            </a:r>
            <a:r>
              <a:rPr lang="fr-FR" sz="2200" dirty="0" err="1"/>
              <a:t>drugs</a:t>
            </a:r>
            <a:r>
              <a:rPr lang="fr-FR" sz="2200" dirty="0"/>
              <a:t> </a:t>
            </a:r>
            <a:r>
              <a:rPr lang="fr-FR" sz="2200" dirty="0" err="1"/>
              <a:t>is</a:t>
            </a:r>
            <a:r>
              <a:rPr lang="fr-FR" sz="2200" dirty="0"/>
              <a:t> </a:t>
            </a:r>
            <a:r>
              <a:rPr lang="fr-FR" sz="2200" dirty="0" err="1"/>
              <a:t>often</a:t>
            </a:r>
            <a:r>
              <a:rPr lang="fr-FR" sz="2200" dirty="0"/>
              <a:t> </a:t>
            </a:r>
            <a:r>
              <a:rPr lang="fr-FR" sz="2200" dirty="0" err="1"/>
              <a:t>done</a:t>
            </a:r>
            <a:r>
              <a:rPr lang="fr-FR" sz="2200" dirty="0"/>
              <a:t> </a:t>
            </a:r>
            <a:r>
              <a:rPr lang="fr-FR" sz="2200" dirty="0" err="1"/>
              <a:t>with</a:t>
            </a:r>
            <a:r>
              <a:rPr lang="fr-FR" sz="2200" dirty="0"/>
              <a:t> </a:t>
            </a:r>
            <a:r>
              <a:rPr lang="fr-FR" sz="2200" dirty="0" err="1"/>
              <a:t>poor</a:t>
            </a:r>
            <a:r>
              <a:rPr lang="fr-FR" sz="2200" dirty="0"/>
              <a:t> people </a:t>
            </a:r>
            <a:r>
              <a:rPr lang="fr-FR" sz="2200" dirty="0" err="1"/>
              <a:t>who</a:t>
            </a:r>
            <a:r>
              <a:rPr lang="fr-FR" sz="2200" dirty="0"/>
              <a:t> </a:t>
            </a:r>
            <a:r>
              <a:rPr lang="fr-FR" sz="2200" dirty="0" err="1"/>
              <a:t>accept</a:t>
            </a:r>
            <a:r>
              <a:rPr lang="fr-FR" sz="2200" dirty="0"/>
              <a:t> to </a:t>
            </a:r>
            <a:r>
              <a:rPr lang="fr-FR" sz="2200" dirty="0" err="1"/>
              <a:t>be</a:t>
            </a:r>
            <a:r>
              <a:rPr lang="fr-FR" sz="2200" dirty="0"/>
              <a:t> in the </a:t>
            </a:r>
            <a:r>
              <a:rPr lang="fr-FR" sz="2200" dirty="0" err="1"/>
              <a:t>treatment</a:t>
            </a:r>
            <a:r>
              <a:rPr lang="fr-FR" sz="2200" dirty="0"/>
              <a:t> group but </a:t>
            </a:r>
            <a:r>
              <a:rPr lang="fr-FR" sz="2200" dirty="0" err="1"/>
              <a:t>who</a:t>
            </a:r>
            <a:r>
              <a:rPr lang="fr-FR" sz="2200" dirty="0"/>
              <a:t> </a:t>
            </a:r>
            <a:r>
              <a:rPr lang="fr-FR" sz="2200" dirty="0" err="1"/>
              <a:t>cannot</a:t>
            </a:r>
            <a:r>
              <a:rPr lang="fr-FR" sz="2200" dirty="0"/>
              <a:t> </a:t>
            </a:r>
            <a:r>
              <a:rPr lang="fr-FR" sz="2200" dirty="0" err="1"/>
              <a:t>afford</a:t>
            </a:r>
            <a:r>
              <a:rPr lang="fr-FR" sz="2200" dirty="0"/>
              <a:t> to </a:t>
            </a:r>
            <a:r>
              <a:rPr lang="fr-FR" sz="2200" dirty="0" err="1"/>
              <a:t>pay</a:t>
            </a:r>
            <a:r>
              <a:rPr lang="fr-FR" sz="2200" dirty="0"/>
              <a:t> for the </a:t>
            </a:r>
            <a:r>
              <a:rPr lang="fr-FR" sz="2200" dirty="0" err="1"/>
              <a:t>drug</a:t>
            </a:r>
            <a:r>
              <a:rPr lang="fr-FR" sz="2200" dirty="0"/>
              <a:t> </a:t>
            </a:r>
            <a:r>
              <a:rPr lang="fr-FR" sz="2200" dirty="0" err="1"/>
              <a:t>when</a:t>
            </a:r>
            <a:r>
              <a:rPr lang="fr-FR" sz="2200" dirty="0"/>
              <a:t> </a:t>
            </a:r>
            <a:r>
              <a:rPr lang="fr-FR" sz="2200" dirty="0" err="1"/>
              <a:t>it</a:t>
            </a:r>
            <a:r>
              <a:rPr lang="fr-FR" sz="2200" dirty="0"/>
              <a:t> </a:t>
            </a:r>
            <a:r>
              <a:rPr lang="fr-FR" sz="2200" dirty="0" err="1"/>
              <a:t>passed</a:t>
            </a:r>
            <a:r>
              <a:rPr lang="fr-FR" sz="2200" dirty="0"/>
              <a:t> the test.</a:t>
            </a:r>
          </a:p>
        </p:txBody>
      </p:sp>
    </p:spTree>
    <p:extLst>
      <p:ext uri="{BB962C8B-B14F-4D97-AF65-F5344CB8AC3E}">
        <p14:creationId xmlns:p14="http://schemas.microsoft.com/office/powerpoint/2010/main" val="42755863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D433684-5211-D670-8201-70C2BFBDC4E7}"/>
              </a:ext>
            </a:extLst>
          </p:cNvPr>
          <p:cNvSpPr>
            <a:spLocks noGrp="1"/>
          </p:cNvSpPr>
          <p:nvPr>
            <p:ph type="title"/>
          </p:nvPr>
        </p:nvSpPr>
        <p:spPr/>
        <p:txBody>
          <a:bodyPr>
            <a:normAutofit/>
          </a:bodyPr>
          <a:lstStyle/>
          <a:p>
            <a:pPr algn="ctr"/>
            <a:r>
              <a:rPr lang="fr-CI" sz="3600" b="1" i="0" u="none" strike="noStrike" dirty="0">
                <a:solidFill>
                  <a:srgbClr val="0070C0"/>
                </a:solidFill>
                <a:effectLst/>
              </a:rPr>
              <a:t>Contrôle institutionnel de l’éthique /</a:t>
            </a:r>
            <a:br>
              <a:rPr lang="fr-CI" sz="3600" b="1" i="0" u="none" strike="noStrike" dirty="0">
                <a:solidFill>
                  <a:srgbClr val="0070C0"/>
                </a:solidFill>
                <a:effectLst/>
              </a:rPr>
            </a:br>
            <a:r>
              <a:rPr lang="fr-CI" sz="3600" b="1" i="0" u="none" strike="noStrike" dirty="0">
                <a:solidFill>
                  <a:srgbClr val="0070C0"/>
                </a:solidFill>
                <a:effectLst/>
              </a:rPr>
              <a:t> </a:t>
            </a:r>
            <a:r>
              <a:rPr lang="fr-FR" sz="3600" b="1" dirty="0" err="1">
                <a:solidFill>
                  <a:srgbClr val="00B050"/>
                </a:solidFill>
              </a:rPr>
              <a:t>Institutional</a:t>
            </a:r>
            <a:r>
              <a:rPr lang="fr-FR" sz="3600" b="1" dirty="0">
                <a:solidFill>
                  <a:srgbClr val="00B050"/>
                </a:solidFill>
              </a:rPr>
              <a:t> check for </a:t>
            </a:r>
            <a:r>
              <a:rPr lang="fr-FR" sz="3600" b="1" dirty="0" err="1">
                <a:solidFill>
                  <a:srgbClr val="00B050"/>
                </a:solidFill>
              </a:rPr>
              <a:t>ethics</a:t>
            </a:r>
            <a:endParaRPr lang="fr-FR" sz="3600" b="1" dirty="0">
              <a:solidFill>
                <a:srgbClr val="00B050"/>
              </a:solidFill>
            </a:endParaRPr>
          </a:p>
        </p:txBody>
      </p:sp>
      <p:sp>
        <p:nvSpPr>
          <p:cNvPr id="3" name="Espace réservé du contenu 2">
            <a:extLst>
              <a:ext uri="{FF2B5EF4-FFF2-40B4-BE49-F238E27FC236}">
                <a16:creationId xmlns:a16="http://schemas.microsoft.com/office/drawing/2014/main" id="{69BCE91E-2B8C-21B1-33AA-A5F24A5C289B}"/>
              </a:ext>
            </a:extLst>
          </p:cNvPr>
          <p:cNvSpPr>
            <a:spLocks noGrp="1"/>
          </p:cNvSpPr>
          <p:nvPr>
            <p:ph sz="half" idx="1"/>
          </p:nvPr>
        </p:nvSpPr>
        <p:spPr>
          <a:xfrm>
            <a:off x="236483" y="1825625"/>
            <a:ext cx="5783317" cy="4667248"/>
          </a:xfrm>
        </p:spPr>
        <p:txBody>
          <a:bodyPr>
            <a:noAutofit/>
          </a:bodyPr>
          <a:lstStyle/>
          <a:p>
            <a:r>
              <a:rPr lang="fr-CI" sz="2400" b="0" i="0" u="none" strike="noStrike" dirty="0">
                <a:solidFill>
                  <a:srgbClr val="000000"/>
                </a:solidFill>
                <a:effectLst/>
                <a:latin typeface="+mj-lt"/>
              </a:rPr>
              <a:t>Existence de comités d’examen institutionnels (CEI) ou d’autres comités d’éthique de la recherche dans les établissements de recherche.</a:t>
            </a:r>
            <a:endParaRPr lang="fr-CI" sz="2400" dirty="0">
              <a:solidFill>
                <a:srgbClr val="000000"/>
              </a:solidFill>
              <a:latin typeface="+mj-lt"/>
            </a:endParaRPr>
          </a:p>
          <a:p>
            <a:r>
              <a:rPr lang="fr-CI" sz="2400" b="0" i="0" u="none" strike="noStrike" dirty="0">
                <a:solidFill>
                  <a:srgbClr val="000000"/>
                </a:solidFill>
                <a:effectLst/>
                <a:latin typeface="+mj-lt"/>
              </a:rPr>
              <a:t>Les comités d’éthique de la recherche peuvent être hébergés dans les ministères du gouvernement de certains pays.</a:t>
            </a:r>
          </a:p>
          <a:p>
            <a:r>
              <a:rPr lang="fr-CI" sz="2400" b="0" i="0" u="none" strike="noStrike" dirty="0">
                <a:solidFill>
                  <a:srgbClr val="000000"/>
                </a:solidFill>
                <a:effectLst/>
                <a:latin typeface="+mj-lt"/>
              </a:rPr>
              <a:t>Il n’y a pas d’autorité centrale qui détermine si vos interventions sont éthiques au sens large.</a:t>
            </a:r>
          </a:p>
          <a:p>
            <a:r>
              <a:rPr lang="fr-CI" sz="2400" b="0" i="0" u="none" strike="noStrike" dirty="0">
                <a:solidFill>
                  <a:srgbClr val="00B050"/>
                </a:solidFill>
                <a:effectLst/>
                <a:latin typeface="+mj-lt"/>
              </a:rPr>
              <a:t>Par conséquent, la responsabilité première incombe au chercheur.</a:t>
            </a:r>
            <a:endParaRPr lang="fr-FR" sz="2400" dirty="0">
              <a:solidFill>
                <a:srgbClr val="00B050"/>
              </a:solidFill>
              <a:latin typeface="+mj-lt"/>
            </a:endParaRPr>
          </a:p>
        </p:txBody>
      </p:sp>
      <p:sp>
        <p:nvSpPr>
          <p:cNvPr id="4" name="Espace réservé du contenu 3">
            <a:extLst>
              <a:ext uri="{FF2B5EF4-FFF2-40B4-BE49-F238E27FC236}">
                <a16:creationId xmlns:a16="http://schemas.microsoft.com/office/drawing/2014/main" id="{411F8EF7-6215-02F0-E1ED-08F2DB26940C}"/>
              </a:ext>
            </a:extLst>
          </p:cNvPr>
          <p:cNvSpPr>
            <a:spLocks noGrp="1"/>
          </p:cNvSpPr>
          <p:nvPr>
            <p:ph sz="half" idx="2"/>
          </p:nvPr>
        </p:nvSpPr>
        <p:spPr>
          <a:xfrm>
            <a:off x="6172200" y="1825625"/>
            <a:ext cx="5651938" cy="4795892"/>
          </a:xfrm>
        </p:spPr>
        <p:txBody>
          <a:bodyPr>
            <a:normAutofit fontScale="85000" lnSpcReduction="20000"/>
          </a:bodyPr>
          <a:lstStyle/>
          <a:p>
            <a:r>
              <a:rPr lang="fr-FR" sz="3100" dirty="0">
                <a:latin typeface="+mj-lt"/>
              </a:rPr>
              <a:t>Existence of </a:t>
            </a:r>
            <a:r>
              <a:rPr lang="fr-FR" sz="3100" dirty="0" err="1">
                <a:latin typeface="+mj-lt"/>
              </a:rPr>
              <a:t>Institutional</a:t>
            </a:r>
            <a:r>
              <a:rPr lang="fr-FR" sz="3100" dirty="0">
                <a:latin typeface="+mj-lt"/>
              </a:rPr>
              <a:t> </a:t>
            </a:r>
            <a:r>
              <a:rPr lang="fr-FR" sz="3100" dirty="0" err="1">
                <a:latin typeface="+mj-lt"/>
              </a:rPr>
              <a:t>Review</a:t>
            </a:r>
            <a:r>
              <a:rPr lang="fr-FR" sz="3100" dirty="0">
                <a:latin typeface="+mj-lt"/>
              </a:rPr>
              <a:t> </a:t>
            </a:r>
            <a:r>
              <a:rPr lang="fr-FR" sz="3100" dirty="0" err="1">
                <a:latin typeface="+mj-lt"/>
              </a:rPr>
              <a:t>Boards</a:t>
            </a:r>
            <a:r>
              <a:rPr lang="fr-FR" sz="3100" dirty="0">
                <a:latin typeface="+mj-lt"/>
              </a:rPr>
              <a:t> (IRB) or </a:t>
            </a:r>
            <a:r>
              <a:rPr lang="fr-FR" sz="3100" dirty="0" err="1">
                <a:latin typeface="+mj-lt"/>
              </a:rPr>
              <a:t>other</a:t>
            </a:r>
            <a:r>
              <a:rPr lang="fr-FR" sz="3100" dirty="0">
                <a:latin typeface="+mj-lt"/>
              </a:rPr>
              <a:t> </a:t>
            </a:r>
            <a:r>
              <a:rPr lang="fr-FR" sz="3100" dirty="0" err="1">
                <a:latin typeface="+mj-lt"/>
              </a:rPr>
              <a:t>Research</a:t>
            </a:r>
            <a:r>
              <a:rPr lang="fr-FR" sz="3100" dirty="0">
                <a:latin typeface="+mj-lt"/>
              </a:rPr>
              <a:t> </a:t>
            </a:r>
            <a:r>
              <a:rPr lang="fr-FR" sz="3100" dirty="0" err="1">
                <a:latin typeface="+mj-lt"/>
              </a:rPr>
              <a:t>Ethics</a:t>
            </a:r>
            <a:r>
              <a:rPr lang="fr-FR" sz="3100" dirty="0">
                <a:latin typeface="+mj-lt"/>
              </a:rPr>
              <a:t> </a:t>
            </a:r>
            <a:r>
              <a:rPr lang="fr-FR" sz="3100" dirty="0" err="1">
                <a:latin typeface="+mj-lt"/>
              </a:rPr>
              <a:t>Committees</a:t>
            </a:r>
            <a:r>
              <a:rPr lang="fr-FR" sz="3100" dirty="0">
                <a:latin typeface="+mj-lt"/>
              </a:rPr>
              <a:t> in </a:t>
            </a:r>
            <a:r>
              <a:rPr lang="fr-FR" sz="3100" dirty="0" err="1">
                <a:latin typeface="+mj-lt"/>
              </a:rPr>
              <a:t>research</a:t>
            </a:r>
            <a:r>
              <a:rPr lang="fr-FR" sz="3100" dirty="0">
                <a:latin typeface="+mj-lt"/>
              </a:rPr>
              <a:t> institutions</a:t>
            </a:r>
          </a:p>
          <a:p>
            <a:endParaRPr lang="fr-FR" sz="3100" dirty="0">
              <a:latin typeface="+mj-lt"/>
            </a:endParaRPr>
          </a:p>
          <a:p>
            <a:endParaRPr lang="fr-FR" sz="2400" dirty="0">
              <a:latin typeface="+mj-lt"/>
            </a:endParaRPr>
          </a:p>
          <a:p>
            <a:r>
              <a:rPr lang="fr-FR" sz="3100" dirty="0" err="1">
                <a:latin typeface="+mj-lt"/>
              </a:rPr>
              <a:t>Research</a:t>
            </a:r>
            <a:r>
              <a:rPr lang="fr-FR" sz="3100" dirty="0">
                <a:latin typeface="+mj-lt"/>
              </a:rPr>
              <a:t> </a:t>
            </a:r>
            <a:r>
              <a:rPr lang="fr-FR" sz="3100" dirty="0" err="1">
                <a:latin typeface="+mj-lt"/>
              </a:rPr>
              <a:t>Ethics</a:t>
            </a:r>
            <a:r>
              <a:rPr lang="fr-FR" sz="3100" dirty="0">
                <a:latin typeface="+mj-lt"/>
              </a:rPr>
              <a:t> </a:t>
            </a:r>
            <a:r>
              <a:rPr lang="fr-FR" sz="3100" dirty="0" err="1">
                <a:latin typeface="+mj-lt"/>
              </a:rPr>
              <a:t>Committees</a:t>
            </a:r>
            <a:r>
              <a:rPr lang="fr-FR" sz="3100" dirty="0">
                <a:latin typeface="+mj-lt"/>
              </a:rPr>
              <a:t> can </a:t>
            </a:r>
            <a:r>
              <a:rPr lang="fr-FR" sz="3100" dirty="0" err="1">
                <a:latin typeface="+mj-lt"/>
              </a:rPr>
              <a:t>be</a:t>
            </a:r>
            <a:r>
              <a:rPr lang="fr-FR" sz="3100" dirty="0">
                <a:latin typeface="+mj-lt"/>
              </a:rPr>
              <a:t> </a:t>
            </a:r>
            <a:r>
              <a:rPr lang="fr-FR" sz="3100" dirty="0" err="1">
                <a:latin typeface="+mj-lt"/>
              </a:rPr>
              <a:t>housed</a:t>
            </a:r>
            <a:r>
              <a:rPr lang="fr-FR" sz="3100" dirty="0">
                <a:latin typeface="+mj-lt"/>
              </a:rPr>
              <a:t> in </a:t>
            </a:r>
            <a:r>
              <a:rPr lang="fr-FR" sz="3100" dirty="0" err="1">
                <a:latin typeface="+mj-lt"/>
              </a:rPr>
              <a:t>Government</a:t>
            </a:r>
            <a:r>
              <a:rPr lang="fr-FR" sz="3100" dirty="0">
                <a:latin typeface="+mj-lt"/>
              </a:rPr>
              <a:t> </a:t>
            </a:r>
            <a:r>
              <a:rPr lang="fr-FR" sz="3100" dirty="0" err="1">
                <a:latin typeface="+mj-lt"/>
              </a:rPr>
              <a:t>Ministries</a:t>
            </a:r>
            <a:r>
              <a:rPr lang="fr-FR" sz="3100" dirty="0">
                <a:latin typeface="+mj-lt"/>
              </a:rPr>
              <a:t> in </a:t>
            </a:r>
            <a:r>
              <a:rPr lang="fr-FR" sz="3100" dirty="0" err="1">
                <a:latin typeface="+mj-lt"/>
              </a:rPr>
              <a:t>some</a:t>
            </a:r>
            <a:r>
              <a:rPr lang="fr-FR" sz="3100" dirty="0">
                <a:latin typeface="+mj-lt"/>
              </a:rPr>
              <a:t> countries.</a:t>
            </a:r>
          </a:p>
          <a:p>
            <a:endParaRPr lang="fr-FR" sz="3100" dirty="0">
              <a:latin typeface="+mj-lt"/>
            </a:endParaRPr>
          </a:p>
          <a:p>
            <a:r>
              <a:rPr lang="fr-FR" sz="3100" dirty="0">
                <a:latin typeface="+mj-lt"/>
              </a:rPr>
              <a:t>There </a:t>
            </a:r>
            <a:r>
              <a:rPr lang="fr-FR" sz="3100" dirty="0" err="1">
                <a:latin typeface="+mj-lt"/>
              </a:rPr>
              <a:t>is</a:t>
            </a:r>
            <a:r>
              <a:rPr lang="fr-FR" sz="3100" dirty="0">
                <a:latin typeface="+mj-lt"/>
              </a:rPr>
              <a:t> no central </a:t>
            </a:r>
            <a:r>
              <a:rPr lang="fr-FR" sz="3100" dirty="0" err="1">
                <a:latin typeface="+mj-lt"/>
              </a:rPr>
              <a:t>authority</a:t>
            </a:r>
            <a:r>
              <a:rPr lang="fr-FR" sz="3100" dirty="0">
                <a:latin typeface="+mj-lt"/>
              </a:rPr>
              <a:t> </a:t>
            </a:r>
            <a:r>
              <a:rPr lang="fr-FR" sz="3100" dirty="0" err="1">
                <a:latin typeface="+mj-lt"/>
              </a:rPr>
              <a:t>that</a:t>
            </a:r>
            <a:r>
              <a:rPr lang="fr-FR" sz="3100" dirty="0">
                <a:latin typeface="+mj-lt"/>
              </a:rPr>
              <a:t> </a:t>
            </a:r>
            <a:r>
              <a:rPr lang="fr-FR" sz="3100" dirty="0" err="1">
                <a:latin typeface="+mj-lt"/>
              </a:rPr>
              <a:t>determines</a:t>
            </a:r>
            <a:r>
              <a:rPr lang="fr-FR" sz="3100" dirty="0">
                <a:latin typeface="+mj-lt"/>
              </a:rPr>
              <a:t> </a:t>
            </a:r>
            <a:r>
              <a:rPr lang="fr-FR" sz="3100" dirty="0" err="1">
                <a:latin typeface="+mj-lt"/>
              </a:rPr>
              <a:t>whether</a:t>
            </a:r>
            <a:r>
              <a:rPr lang="fr-FR" sz="3100" dirty="0">
                <a:latin typeface="+mj-lt"/>
              </a:rPr>
              <a:t> </a:t>
            </a:r>
            <a:r>
              <a:rPr lang="fr-FR" sz="3100" dirty="0" err="1">
                <a:latin typeface="+mj-lt"/>
              </a:rPr>
              <a:t>your</a:t>
            </a:r>
            <a:r>
              <a:rPr lang="fr-FR" sz="3100" dirty="0">
                <a:latin typeface="+mj-lt"/>
              </a:rPr>
              <a:t> interventions are </a:t>
            </a:r>
            <a:r>
              <a:rPr lang="fr-FR" sz="3100" dirty="0" err="1">
                <a:latin typeface="+mj-lt"/>
              </a:rPr>
              <a:t>ethical</a:t>
            </a:r>
            <a:r>
              <a:rPr lang="fr-FR" sz="3100" dirty="0">
                <a:latin typeface="+mj-lt"/>
              </a:rPr>
              <a:t> in a </a:t>
            </a:r>
            <a:r>
              <a:rPr lang="fr-FR" sz="3100" dirty="0" err="1">
                <a:latin typeface="+mj-lt"/>
              </a:rPr>
              <a:t>broader</a:t>
            </a:r>
            <a:r>
              <a:rPr lang="fr-FR" sz="3100" dirty="0">
                <a:latin typeface="+mj-lt"/>
              </a:rPr>
              <a:t> </a:t>
            </a:r>
            <a:r>
              <a:rPr lang="fr-FR" sz="3100" dirty="0" err="1">
                <a:latin typeface="+mj-lt"/>
              </a:rPr>
              <a:t>sense</a:t>
            </a:r>
            <a:r>
              <a:rPr lang="fr-FR" sz="3100" dirty="0">
                <a:latin typeface="+mj-lt"/>
              </a:rPr>
              <a:t>. </a:t>
            </a:r>
          </a:p>
          <a:p>
            <a:r>
              <a:rPr lang="fr-FR" sz="3100" dirty="0" err="1">
                <a:solidFill>
                  <a:srgbClr val="00B050"/>
                </a:solidFill>
                <a:latin typeface="+mj-lt"/>
              </a:rPr>
              <a:t>Therefore</a:t>
            </a:r>
            <a:r>
              <a:rPr lang="fr-FR" sz="3100" dirty="0">
                <a:solidFill>
                  <a:srgbClr val="00B050"/>
                </a:solidFill>
                <a:latin typeface="+mj-lt"/>
              </a:rPr>
              <a:t>, the </a:t>
            </a:r>
            <a:r>
              <a:rPr lang="fr-FR" sz="3100" dirty="0" err="1">
                <a:solidFill>
                  <a:srgbClr val="00B050"/>
                </a:solidFill>
                <a:latin typeface="+mj-lt"/>
              </a:rPr>
              <a:t>primary</a:t>
            </a:r>
            <a:r>
              <a:rPr lang="fr-FR" sz="3100" dirty="0">
                <a:solidFill>
                  <a:srgbClr val="00B050"/>
                </a:solidFill>
                <a:latin typeface="+mj-lt"/>
              </a:rPr>
              <a:t> </a:t>
            </a:r>
            <a:r>
              <a:rPr lang="fr-FR" sz="3100" dirty="0" err="1">
                <a:solidFill>
                  <a:srgbClr val="00B050"/>
                </a:solidFill>
                <a:latin typeface="+mj-lt"/>
              </a:rPr>
              <a:t>responsibility</a:t>
            </a:r>
            <a:r>
              <a:rPr lang="fr-FR" sz="3100" dirty="0">
                <a:solidFill>
                  <a:srgbClr val="00B050"/>
                </a:solidFill>
                <a:latin typeface="+mj-lt"/>
              </a:rPr>
              <a:t> </a:t>
            </a:r>
            <a:r>
              <a:rPr lang="fr-FR" sz="3100" dirty="0" err="1">
                <a:solidFill>
                  <a:srgbClr val="00B050"/>
                </a:solidFill>
                <a:latin typeface="+mj-lt"/>
              </a:rPr>
              <a:t>is</a:t>
            </a:r>
            <a:r>
              <a:rPr lang="fr-FR" sz="3100" dirty="0">
                <a:solidFill>
                  <a:srgbClr val="00B050"/>
                </a:solidFill>
                <a:latin typeface="+mj-lt"/>
              </a:rPr>
              <a:t> </a:t>
            </a:r>
            <a:r>
              <a:rPr lang="fr-FR" sz="3100" dirty="0" err="1">
                <a:solidFill>
                  <a:srgbClr val="00B050"/>
                </a:solidFill>
                <a:latin typeface="+mj-lt"/>
              </a:rPr>
              <a:t>with</a:t>
            </a:r>
            <a:r>
              <a:rPr lang="fr-FR" sz="3100" dirty="0">
                <a:solidFill>
                  <a:srgbClr val="00B050"/>
                </a:solidFill>
                <a:latin typeface="+mj-lt"/>
              </a:rPr>
              <a:t> the </a:t>
            </a:r>
            <a:r>
              <a:rPr lang="fr-FR" sz="3100" dirty="0" err="1">
                <a:solidFill>
                  <a:srgbClr val="00B050"/>
                </a:solidFill>
                <a:latin typeface="+mj-lt"/>
              </a:rPr>
              <a:t>researcher</a:t>
            </a:r>
            <a:endParaRPr lang="fr-FR" sz="3100" dirty="0">
              <a:solidFill>
                <a:srgbClr val="00B050"/>
              </a:solidFill>
              <a:latin typeface="+mj-lt"/>
            </a:endParaRPr>
          </a:p>
        </p:txBody>
      </p:sp>
    </p:spTree>
    <p:extLst>
      <p:ext uri="{BB962C8B-B14F-4D97-AF65-F5344CB8AC3E}">
        <p14:creationId xmlns:p14="http://schemas.microsoft.com/office/powerpoint/2010/main" val="20937604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AFE49FA-F20D-59A8-E5C1-792667B654CD}"/>
              </a:ext>
            </a:extLst>
          </p:cNvPr>
          <p:cNvSpPr>
            <a:spLocks noGrp="1"/>
          </p:cNvSpPr>
          <p:nvPr>
            <p:ph type="title"/>
          </p:nvPr>
        </p:nvSpPr>
        <p:spPr>
          <a:xfrm>
            <a:off x="838200" y="365127"/>
            <a:ext cx="10515600" cy="943411"/>
          </a:xfrm>
        </p:spPr>
        <p:txBody>
          <a:bodyPr>
            <a:normAutofit/>
          </a:bodyPr>
          <a:lstStyle/>
          <a:p>
            <a:pPr algn="ctr"/>
            <a:r>
              <a:rPr lang="fr-FR" sz="3600" b="1" dirty="0">
                <a:solidFill>
                  <a:schemeClr val="accent1"/>
                </a:solidFill>
              </a:rPr>
              <a:t>Conclusion</a:t>
            </a:r>
            <a:endParaRPr lang="fr-FR" sz="3600" dirty="0"/>
          </a:p>
        </p:txBody>
      </p:sp>
      <p:sp>
        <p:nvSpPr>
          <p:cNvPr id="3" name="Espace réservé du contenu 2">
            <a:extLst>
              <a:ext uri="{FF2B5EF4-FFF2-40B4-BE49-F238E27FC236}">
                <a16:creationId xmlns:a16="http://schemas.microsoft.com/office/drawing/2014/main" id="{67D2C1FF-09B9-F0D7-714F-A7692A2BFAFA}"/>
              </a:ext>
            </a:extLst>
          </p:cNvPr>
          <p:cNvSpPr>
            <a:spLocks noGrp="1"/>
          </p:cNvSpPr>
          <p:nvPr>
            <p:ph sz="half" idx="1"/>
          </p:nvPr>
        </p:nvSpPr>
        <p:spPr>
          <a:xfrm>
            <a:off x="252248" y="1308538"/>
            <a:ext cx="5767552" cy="4868425"/>
          </a:xfrm>
        </p:spPr>
        <p:txBody>
          <a:bodyPr>
            <a:normAutofit fontScale="77500" lnSpcReduction="20000"/>
          </a:bodyPr>
          <a:lstStyle/>
          <a:p>
            <a:r>
              <a:rPr lang="fr-FR" dirty="0">
                <a:latin typeface="+mj-lt"/>
              </a:rPr>
              <a:t>Les principes éthiques de respect des personnes, de bienfaisance et de justice doivent guider l’ensemble du processus de conception et de mise en œuvre de la recherche.</a:t>
            </a:r>
          </a:p>
          <a:p>
            <a:endParaRPr lang="fr-FR" dirty="0">
              <a:latin typeface="+mj-lt"/>
            </a:endParaRPr>
          </a:p>
          <a:p>
            <a:r>
              <a:rPr lang="fr-CI" b="0" i="0" u="none" strike="noStrike" dirty="0">
                <a:solidFill>
                  <a:srgbClr val="000000"/>
                </a:solidFill>
                <a:effectLst/>
                <a:latin typeface="+mj-lt"/>
              </a:rPr>
              <a:t>L’apprentissage de la recherche ne peut aller à l’encontre des objectifs fondamentaux de protection des participants à la recherche, des communautés et de la sécurité.</a:t>
            </a:r>
          </a:p>
          <a:p>
            <a:endParaRPr lang="fr-CI" dirty="0">
              <a:solidFill>
                <a:srgbClr val="000000"/>
              </a:solidFill>
              <a:latin typeface="+mj-lt"/>
            </a:endParaRPr>
          </a:p>
          <a:p>
            <a:endParaRPr lang="fr-CI" dirty="0">
              <a:solidFill>
                <a:srgbClr val="000000"/>
              </a:solidFill>
              <a:latin typeface="+mj-lt"/>
            </a:endParaRPr>
          </a:p>
          <a:p>
            <a:r>
              <a:rPr lang="fr-CI" b="0" i="0" u="none" strike="noStrike" dirty="0">
                <a:solidFill>
                  <a:srgbClr val="000000"/>
                </a:solidFill>
                <a:effectLst/>
                <a:latin typeface="+mj-lt"/>
              </a:rPr>
              <a:t>Certains risques peuvent être éthiques si les gains sont suffisamment importants, mais les gens doivent être informés des risques et faire le choix d’y participer</a:t>
            </a:r>
            <a:endParaRPr lang="fr-FR" dirty="0">
              <a:latin typeface="+mj-lt"/>
            </a:endParaRPr>
          </a:p>
        </p:txBody>
      </p:sp>
      <p:sp>
        <p:nvSpPr>
          <p:cNvPr id="4" name="Espace réservé du contenu 3">
            <a:extLst>
              <a:ext uri="{FF2B5EF4-FFF2-40B4-BE49-F238E27FC236}">
                <a16:creationId xmlns:a16="http://schemas.microsoft.com/office/drawing/2014/main" id="{C2CEBF21-E757-5676-3104-87072CFF0673}"/>
              </a:ext>
            </a:extLst>
          </p:cNvPr>
          <p:cNvSpPr>
            <a:spLocks noGrp="1"/>
          </p:cNvSpPr>
          <p:nvPr>
            <p:ph sz="half" idx="2"/>
          </p:nvPr>
        </p:nvSpPr>
        <p:spPr>
          <a:xfrm>
            <a:off x="6172200" y="1308538"/>
            <a:ext cx="5767552" cy="4868425"/>
          </a:xfrm>
        </p:spPr>
        <p:txBody>
          <a:bodyPr>
            <a:noAutofit/>
          </a:bodyPr>
          <a:lstStyle/>
          <a:p>
            <a:r>
              <a:rPr lang="fr-CI" sz="2200" i="1" dirty="0" err="1">
                <a:solidFill>
                  <a:srgbClr val="000000"/>
                </a:solidFill>
                <a:effectLst/>
                <a:latin typeface="+mj-lt"/>
              </a:rPr>
              <a:t>Ethical</a:t>
            </a:r>
            <a:r>
              <a:rPr lang="fr-CI" sz="2200" i="1" dirty="0">
                <a:solidFill>
                  <a:srgbClr val="000000"/>
                </a:solidFill>
                <a:effectLst/>
                <a:latin typeface="+mj-lt"/>
              </a:rPr>
              <a:t> </a:t>
            </a:r>
            <a:r>
              <a:rPr lang="fr-CI" sz="2200" i="1" dirty="0" err="1">
                <a:solidFill>
                  <a:srgbClr val="000000"/>
                </a:solidFill>
                <a:effectLst/>
                <a:latin typeface="+mj-lt"/>
              </a:rPr>
              <a:t>principles</a:t>
            </a:r>
            <a:r>
              <a:rPr lang="fr-CI" sz="2200" i="1" dirty="0">
                <a:solidFill>
                  <a:srgbClr val="000000"/>
                </a:solidFill>
                <a:effectLst/>
                <a:latin typeface="+mj-lt"/>
              </a:rPr>
              <a:t> of respect for </a:t>
            </a:r>
            <a:r>
              <a:rPr lang="fr-CI" sz="2200" i="1" dirty="0" err="1">
                <a:solidFill>
                  <a:srgbClr val="000000"/>
                </a:solidFill>
                <a:effectLst/>
                <a:latin typeface="+mj-lt"/>
              </a:rPr>
              <a:t>persons</a:t>
            </a:r>
            <a:r>
              <a:rPr lang="fr-CI" sz="2200" i="1" dirty="0">
                <a:solidFill>
                  <a:srgbClr val="000000"/>
                </a:solidFill>
                <a:effectLst/>
                <a:latin typeface="+mj-lt"/>
              </a:rPr>
              <a:t>, </a:t>
            </a:r>
            <a:r>
              <a:rPr lang="fr-CI" sz="2200" i="1" dirty="0" err="1">
                <a:solidFill>
                  <a:srgbClr val="000000"/>
                </a:solidFill>
                <a:effectLst/>
                <a:latin typeface="+mj-lt"/>
              </a:rPr>
              <a:t>beneficence</a:t>
            </a:r>
            <a:r>
              <a:rPr lang="fr-CI" sz="2200" i="1" dirty="0">
                <a:solidFill>
                  <a:srgbClr val="000000"/>
                </a:solidFill>
                <a:effectLst/>
                <a:latin typeface="+mj-lt"/>
              </a:rPr>
              <a:t>, and justice must guide the </a:t>
            </a:r>
            <a:r>
              <a:rPr lang="fr-CI" sz="2200" i="1" dirty="0" err="1">
                <a:solidFill>
                  <a:srgbClr val="000000"/>
                </a:solidFill>
                <a:effectLst/>
                <a:latin typeface="+mj-lt"/>
              </a:rPr>
              <a:t>whole</a:t>
            </a:r>
            <a:r>
              <a:rPr lang="fr-CI" sz="2200" i="1" dirty="0">
                <a:solidFill>
                  <a:srgbClr val="000000"/>
                </a:solidFill>
                <a:effectLst/>
                <a:latin typeface="+mj-lt"/>
              </a:rPr>
              <a:t> process of </a:t>
            </a:r>
            <a:r>
              <a:rPr lang="fr-CI" sz="2200" i="1" dirty="0" err="1">
                <a:solidFill>
                  <a:srgbClr val="000000"/>
                </a:solidFill>
                <a:effectLst/>
                <a:latin typeface="+mj-lt"/>
              </a:rPr>
              <a:t>research</a:t>
            </a:r>
            <a:r>
              <a:rPr lang="fr-CI" sz="2200" i="1" dirty="0">
                <a:solidFill>
                  <a:srgbClr val="000000"/>
                </a:solidFill>
                <a:effectLst/>
                <a:latin typeface="+mj-lt"/>
              </a:rPr>
              <a:t> design and </a:t>
            </a:r>
            <a:r>
              <a:rPr lang="fr-CI" sz="2200" i="1" dirty="0" err="1">
                <a:solidFill>
                  <a:srgbClr val="000000"/>
                </a:solidFill>
                <a:effectLst/>
                <a:latin typeface="+mj-lt"/>
              </a:rPr>
              <a:t>implementation</a:t>
            </a:r>
            <a:endParaRPr lang="fr-CI" sz="2200" i="1" dirty="0">
              <a:solidFill>
                <a:srgbClr val="000000"/>
              </a:solidFill>
              <a:effectLst/>
              <a:latin typeface="+mj-lt"/>
            </a:endParaRPr>
          </a:p>
          <a:p>
            <a:endParaRPr lang="fr-CI" sz="2200" dirty="0">
              <a:solidFill>
                <a:srgbClr val="000000"/>
              </a:solidFill>
              <a:effectLst/>
              <a:latin typeface="+mj-lt"/>
            </a:endParaRPr>
          </a:p>
          <a:p>
            <a:r>
              <a:rPr lang="fr-CI" sz="2200" dirty="0">
                <a:solidFill>
                  <a:srgbClr val="000000"/>
                </a:solidFill>
                <a:effectLst/>
                <a:latin typeface="+mj-lt"/>
              </a:rPr>
              <a:t>Learning </a:t>
            </a:r>
            <a:r>
              <a:rPr lang="fr-CI" sz="2200" dirty="0" err="1">
                <a:solidFill>
                  <a:srgbClr val="000000"/>
                </a:solidFill>
                <a:effectLst/>
                <a:latin typeface="+mj-lt"/>
              </a:rPr>
              <a:t>from</a:t>
            </a:r>
            <a:r>
              <a:rPr lang="fr-CI" sz="2200" dirty="0">
                <a:solidFill>
                  <a:srgbClr val="000000"/>
                </a:solidFill>
                <a:effectLst/>
                <a:latin typeface="+mj-lt"/>
              </a:rPr>
              <a:t> </a:t>
            </a:r>
            <a:r>
              <a:rPr lang="fr-CI" sz="2200" dirty="0" err="1">
                <a:solidFill>
                  <a:srgbClr val="000000"/>
                </a:solidFill>
                <a:effectLst/>
                <a:latin typeface="+mj-lt"/>
              </a:rPr>
              <a:t>research</a:t>
            </a:r>
            <a:r>
              <a:rPr lang="fr-CI" sz="2200" dirty="0">
                <a:solidFill>
                  <a:srgbClr val="000000"/>
                </a:solidFill>
                <a:effectLst/>
                <a:latin typeface="+mj-lt"/>
              </a:rPr>
              <a:t> </a:t>
            </a:r>
            <a:r>
              <a:rPr lang="fr-CI" sz="2200" dirty="0" err="1">
                <a:solidFill>
                  <a:srgbClr val="000000"/>
                </a:solidFill>
                <a:effectLst/>
                <a:latin typeface="+mj-lt"/>
              </a:rPr>
              <a:t>cannot</a:t>
            </a:r>
            <a:r>
              <a:rPr lang="fr-CI" sz="2200" dirty="0">
                <a:solidFill>
                  <a:srgbClr val="000000"/>
                </a:solidFill>
                <a:effectLst/>
                <a:latin typeface="+mj-lt"/>
              </a:rPr>
              <a:t> go </a:t>
            </a:r>
            <a:r>
              <a:rPr lang="fr-CI" sz="2200" dirty="0" err="1">
                <a:solidFill>
                  <a:srgbClr val="000000"/>
                </a:solidFill>
                <a:effectLst/>
                <a:latin typeface="+mj-lt"/>
              </a:rPr>
              <a:t>against</a:t>
            </a:r>
            <a:r>
              <a:rPr lang="fr-CI" sz="2200" dirty="0">
                <a:solidFill>
                  <a:srgbClr val="000000"/>
                </a:solidFill>
                <a:effectLst/>
                <a:latin typeface="+mj-lt"/>
              </a:rPr>
              <a:t> the </a:t>
            </a:r>
            <a:r>
              <a:rPr lang="fr-CI" sz="2200" dirty="0" err="1">
                <a:solidFill>
                  <a:srgbClr val="000000"/>
                </a:solidFill>
                <a:effectLst/>
                <a:latin typeface="+mj-lt"/>
              </a:rPr>
              <a:t>fundamental</a:t>
            </a:r>
            <a:r>
              <a:rPr lang="fr-CI" sz="2200" dirty="0">
                <a:solidFill>
                  <a:srgbClr val="000000"/>
                </a:solidFill>
                <a:effectLst/>
                <a:latin typeface="+mj-lt"/>
              </a:rPr>
              <a:t> goals of </a:t>
            </a:r>
            <a:r>
              <a:rPr lang="fr-CI" sz="2200" dirty="0" err="1">
                <a:solidFill>
                  <a:srgbClr val="000000"/>
                </a:solidFill>
                <a:effectLst/>
                <a:latin typeface="+mj-lt"/>
              </a:rPr>
              <a:t>protecting</a:t>
            </a:r>
            <a:r>
              <a:rPr lang="fr-CI" sz="2200" dirty="0">
                <a:solidFill>
                  <a:srgbClr val="000000"/>
                </a:solidFill>
                <a:effectLst/>
                <a:latin typeface="+mj-lt"/>
              </a:rPr>
              <a:t> </a:t>
            </a:r>
            <a:r>
              <a:rPr lang="fr-CI" sz="2200" dirty="0" err="1">
                <a:solidFill>
                  <a:srgbClr val="000000"/>
                </a:solidFill>
                <a:effectLst/>
                <a:latin typeface="+mj-lt"/>
              </a:rPr>
              <a:t>research</a:t>
            </a:r>
            <a:r>
              <a:rPr lang="fr-CI" sz="2200" dirty="0">
                <a:solidFill>
                  <a:srgbClr val="000000"/>
                </a:solidFill>
                <a:effectLst/>
                <a:latin typeface="+mj-lt"/>
              </a:rPr>
              <a:t> participants, </a:t>
            </a:r>
            <a:r>
              <a:rPr lang="fr-CI" sz="2200" dirty="0" err="1">
                <a:solidFill>
                  <a:srgbClr val="000000"/>
                </a:solidFill>
                <a:effectLst/>
                <a:latin typeface="+mj-lt"/>
              </a:rPr>
              <a:t>communities</a:t>
            </a:r>
            <a:r>
              <a:rPr lang="fr-CI" sz="2200" dirty="0">
                <a:solidFill>
                  <a:srgbClr val="000000"/>
                </a:solidFill>
                <a:effectLst/>
                <a:latin typeface="+mj-lt"/>
              </a:rPr>
              <a:t>, and staff</a:t>
            </a:r>
          </a:p>
          <a:p>
            <a:endParaRPr lang="fr-CI" sz="2200" dirty="0">
              <a:solidFill>
                <a:srgbClr val="000000"/>
              </a:solidFill>
              <a:effectLst/>
              <a:latin typeface="+mj-lt"/>
            </a:endParaRPr>
          </a:p>
          <a:p>
            <a:endParaRPr lang="fr-CI" sz="2200" dirty="0">
              <a:solidFill>
                <a:srgbClr val="000000"/>
              </a:solidFill>
              <a:effectLst/>
              <a:latin typeface="+mj-lt"/>
            </a:endParaRPr>
          </a:p>
          <a:p>
            <a:r>
              <a:rPr lang="fr-CI" sz="2200" i="1" dirty="0" err="1">
                <a:solidFill>
                  <a:srgbClr val="000000"/>
                </a:solidFill>
                <a:effectLst/>
                <a:latin typeface="+mj-lt"/>
              </a:rPr>
              <a:t>Some</a:t>
            </a:r>
            <a:r>
              <a:rPr lang="fr-CI" sz="2200" i="1" dirty="0">
                <a:solidFill>
                  <a:srgbClr val="000000"/>
                </a:solidFill>
                <a:effectLst/>
                <a:latin typeface="+mj-lt"/>
              </a:rPr>
              <a:t> </a:t>
            </a:r>
            <a:r>
              <a:rPr lang="fr-CI" sz="2200" i="1" dirty="0" err="1">
                <a:solidFill>
                  <a:srgbClr val="000000"/>
                </a:solidFill>
                <a:effectLst/>
                <a:latin typeface="+mj-lt"/>
              </a:rPr>
              <a:t>risk</a:t>
            </a:r>
            <a:r>
              <a:rPr lang="fr-CI" sz="2200" i="1" dirty="0">
                <a:solidFill>
                  <a:srgbClr val="000000"/>
                </a:solidFill>
                <a:effectLst/>
                <a:latin typeface="+mj-lt"/>
              </a:rPr>
              <a:t> </a:t>
            </a:r>
            <a:r>
              <a:rPr lang="fr-CI" sz="2200" i="1" dirty="0" err="1">
                <a:solidFill>
                  <a:srgbClr val="000000"/>
                </a:solidFill>
                <a:effectLst/>
                <a:latin typeface="+mj-lt"/>
              </a:rPr>
              <a:t>may</a:t>
            </a:r>
            <a:r>
              <a:rPr lang="fr-CI" sz="2200" i="1" dirty="0">
                <a:solidFill>
                  <a:srgbClr val="000000"/>
                </a:solidFill>
                <a:effectLst/>
                <a:latin typeface="+mj-lt"/>
              </a:rPr>
              <a:t> </a:t>
            </a:r>
            <a:r>
              <a:rPr lang="fr-CI" sz="2200" i="1" dirty="0" err="1">
                <a:solidFill>
                  <a:srgbClr val="000000"/>
                </a:solidFill>
                <a:effectLst/>
                <a:latin typeface="+mj-lt"/>
              </a:rPr>
              <a:t>be</a:t>
            </a:r>
            <a:r>
              <a:rPr lang="fr-CI" sz="2200" i="1" dirty="0">
                <a:solidFill>
                  <a:srgbClr val="000000"/>
                </a:solidFill>
                <a:effectLst/>
                <a:latin typeface="+mj-lt"/>
              </a:rPr>
              <a:t> </a:t>
            </a:r>
            <a:r>
              <a:rPr lang="fr-CI" sz="2200" i="1" dirty="0" err="1">
                <a:solidFill>
                  <a:srgbClr val="000000"/>
                </a:solidFill>
                <a:effectLst/>
                <a:latin typeface="+mj-lt"/>
              </a:rPr>
              <a:t>ethical</a:t>
            </a:r>
            <a:r>
              <a:rPr lang="fr-CI" sz="2200" i="1" dirty="0">
                <a:solidFill>
                  <a:srgbClr val="000000"/>
                </a:solidFill>
                <a:effectLst/>
                <a:latin typeface="+mj-lt"/>
              </a:rPr>
              <a:t> if the gains are large </a:t>
            </a:r>
            <a:r>
              <a:rPr lang="fr-CI" sz="2200" i="1" dirty="0" err="1">
                <a:solidFill>
                  <a:srgbClr val="000000"/>
                </a:solidFill>
                <a:effectLst/>
                <a:latin typeface="+mj-lt"/>
              </a:rPr>
              <a:t>enough</a:t>
            </a:r>
            <a:r>
              <a:rPr lang="fr-CI" sz="2200" i="1" dirty="0">
                <a:solidFill>
                  <a:srgbClr val="000000"/>
                </a:solidFill>
                <a:effectLst/>
                <a:latin typeface="+mj-lt"/>
              </a:rPr>
              <a:t>, but people must </a:t>
            </a:r>
            <a:r>
              <a:rPr lang="fr-CI" sz="2200" i="1" dirty="0" err="1">
                <a:solidFill>
                  <a:srgbClr val="000000"/>
                </a:solidFill>
                <a:effectLst/>
                <a:latin typeface="+mj-lt"/>
              </a:rPr>
              <a:t>be</a:t>
            </a:r>
            <a:r>
              <a:rPr lang="fr-CI" sz="2200" i="1" dirty="0">
                <a:solidFill>
                  <a:srgbClr val="000000"/>
                </a:solidFill>
                <a:effectLst/>
                <a:latin typeface="+mj-lt"/>
              </a:rPr>
              <a:t> </a:t>
            </a:r>
            <a:r>
              <a:rPr lang="fr-CI" sz="2200" i="1" dirty="0" err="1">
                <a:solidFill>
                  <a:srgbClr val="000000"/>
                </a:solidFill>
                <a:effectLst/>
                <a:latin typeface="+mj-lt"/>
              </a:rPr>
              <a:t>informed</a:t>
            </a:r>
            <a:r>
              <a:rPr lang="fr-CI" sz="2200" i="1" dirty="0">
                <a:solidFill>
                  <a:srgbClr val="000000"/>
                </a:solidFill>
                <a:effectLst/>
                <a:latin typeface="+mj-lt"/>
              </a:rPr>
              <a:t> of </a:t>
            </a:r>
            <a:r>
              <a:rPr lang="fr-CI" sz="2200" i="1" dirty="0" err="1">
                <a:solidFill>
                  <a:srgbClr val="000000"/>
                </a:solidFill>
                <a:effectLst/>
                <a:latin typeface="+mj-lt"/>
              </a:rPr>
              <a:t>risks</a:t>
            </a:r>
            <a:r>
              <a:rPr lang="fr-CI" sz="2200" i="1" dirty="0">
                <a:solidFill>
                  <a:srgbClr val="000000"/>
                </a:solidFill>
                <a:effectLst/>
                <a:latin typeface="+mj-lt"/>
              </a:rPr>
              <a:t> and </a:t>
            </a:r>
            <a:r>
              <a:rPr lang="fr-CI" sz="2200" i="1" dirty="0" err="1">
                <a:solidFill>
                  <a:srgbClr val="000000"/>
                </a:solidFill>
                <a:effectLst/>
                <a:latin typeface="+mj-lt"/>
              </a:rPr>
              <a:t>make</a:t>
            </a:r>
            <a:r>
              <a:rPr lang="fr-CI" sz="2200" i="1" dirty="0">
                <a:solidFill>
                  <a:srgbClr val="000000"/>
                </a:solidFill>
                <a:effectLst/>
                <a:latin typeface="+mj-lt"/>
              </a:rPr>
              <a:t> a </a:t>
            </a:r>
            <a:r>
              <a:rPr lang="fr-CI" sz="2200" i="1" dirty="0" err="1">
                <a:solidFill>
                  <a:srgbClr val="000000"/>
                </a:solidFill>
                <a:effectLst/>
                <a:latin typeface="+mj-lt"/>
              </a:rPr>
              <a:t>choice</a:t>
            </a:r>
            <a:r>
              <a:rPr lang="fr-CI" sz="2200" i="1" dirty="0">
                <a:solidFill>
                  <a:srgbClr val="000000"/>
                </a:solidFill>
                <a:effectLst/>
                <a:latin typeface="+mj-lt"/>
              </a:rPr>
              <a:t> to </a:t>
            </a:r>
            <a:r>
              <a:rPr lang="fr-CI" sz="2200" i="1" dirty="0" err="1">
                <a:solidFill>
                  <a:srgbClr val="000000"/>
                </a:solidFill>
                <a:effectLst/>
                <a:latin typeface="+mj-lt"/>
              </a:rPr>
              <a:t>participate</a:t>
            </a:r>
            <a:endParaRPr lang="fr-FR" sz="2200" dirty="0"/>
          </a:p>
        </p:txBody>
      </p:sp>
    </p:spTree>
    <p:extLst>
      <p:ext uri="{BB962C8B-B14F-4D97-AF65-F5344CB8AC3E}">
        <p14:creationId xmlns:p14="http://schemas.microsoft.com/office/powerpoint/2010/main" val="2458731445"/>
      </p:ext>
    </p:extLst>
  </p:cSld>
  <p:clrMapOvr>
    <a:masterClrMapping/>
  </p:clrMapOvr>
</p:sld>
</file>

<file path=ppt/theme/theme1.xml><?xml version="1.0" encoding="utf-8"?>
<a:theme xmlns:a="http://schemas.openxmlformats.org/drawingml/2006/main" name="Office Theme">
  <a:themeElements>
    <a:clrScheme name="Thèm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hèm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8273</TotalTime>
  <Words>1020</Words>
  <Application>Microsoft Macintosh PowerPoint</Application>
  <PresentationFormat>Grand écran</PresentationFormat>
  <Paragraphs>78</Paragraphs>
  <Slides>7</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7</vt:i4>
      </vt:variant>
    </vt:vector>
  </HeadingPairs>
  <TitlesOfParts>
    <vt:vector size="13" baseType="lpstr">
      <vt:lpstr>Aptos</vt:lpstr>
      <vt:lpstr>Arial</vt:lpstr>
      <vt:lpstr>Calibri</vt:lpstr>
      <vt:lpstr>Calibri Light</vt:lpstr>
      <vt:lpstr>Wingdings</vt:lpstr>
      <vt:lpstr>Office Theme</vt:lpstr>
      <vt:lpstr> RESPONSABILITÉS ÉTHIQUES DU CHERCHEUR EN RECHERCHE EXPÉRIMENTALE /  ETHICAL RESPONSIBILITIES OF THE RESEARCHER IN EXPERIMENTAL RESEARCH</vt:lpstr>
      <vt:lpstr>Introduction Responsabilités éthiques du chercheur en recherche expérimentale/  Ethical responsibilities of the researcher in experimental research</vt:lpstr>
      <vt:lpstr>Quelques questions éthiques basiques à se poser dès la conception de la recherche expérimentale / Some basic ethical questions to ask when designing experimental research</vt:lpstr>
      <vt:lpstr>Quelques questions éthiques basiques à se poser dès la conception de la recherche expérimentale / Some basic ethical questions to ask when designing experimental research</vt:lpstr>
      <vt:lpstr>Quelques questions éthiques basiques à se poser dès la conception de la recherche expérimentale / Some basic ethical questions to ask when designing experimental research</vt:lpstr>
      <vt:lpstr>Contrôle institutionnel de l’éthique /  Institutional check for ethics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À LA GESTION DES CONFLITS</dc:title>
  <dc:creator>Arsene Brice Bado</dc:creator>
  <cp:lastModifiedBy>Arsène Brice Bado</cp:lastModifiedBy>
  <cp:revision>54</cp:revision>
  <dcterms:created xsi:type="dcterms:W3CDTF">2018-12-15T15:19:51Z</dcterms:created>
  <dcterms:modified xsi:type="dcterms:W3CDTF">2026-06-07T16:37:29Z</dcterms:modified>
</cp:coreProperties>
</file>