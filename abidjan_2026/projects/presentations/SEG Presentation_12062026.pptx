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8" r:id="rId2"/>
    <p:sldId id="277" r:id="rId3"/>
    <p:sldId id="294" r:id="rId4"/>
    <p:sldId id="265" r:id="rId5"/>
    <p:sldId id="278" r:id="rId6"/>
    <p:sldId id="274" r:id="rId7"/>
    <p:sldId id="292" r:id="rId8"/>
    <p:sldId id="264" r:id="rId9"/>
    <p:sldId id="269" r:id="rId10"/>
    <p:sldId id="276" r:id="rId11"/>
    <p:sldId id="263" r:id="rId12"/>
    <p:sldId id="287" r:id="rId13"/>
    <p:sldId id="266" r:id="rId14"/>
    <p:sldId id="280" r:id="rId15"/>
    <p:sldId id="267" r:id="rId16"/>
    <p:sldId id="282" r:id="rId17"/>
    <p:sldId id="283" r:id="rId18"/>
    <p:sldId id="284" r:id="rId19"/>
    <p:sldId id="285" r:id="rId20"/>
    <p:sldId id="293" r:id="rId21"/>
    <p:sldId id="289" r:id="rId22"/>
    <p:sldId id="2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Sheet1!$C$19</c:f>
              <c:strCache>
                <c:ptCount val="1"/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multiLvlStrRef>
              <c:f>Sheet1!$A$20:$B$24</c:f>
              <c:multiLvlStrCache>
                <c:ptCount val="5"/>
                <c:lvl>
                  <c:pt idx="0">
                    <c:v>18–25</c:v>
                  </c:pt>
                  <c:pt idx="1">
                    <c:v>26–35</c:v>
                  </c:pt>
                  <c:pt idx="2">
                    <c:v>26–36</c:v>
                  </c:pt>
                  <c:pt idx="3">
                    <c:v>36–45</c:v>
                  </c:pt>
                  <c:pt idx="4">
                    <c:v>46–55</c:v>
                  </c:pt>
                </c:lvl>
                <c:lvl>
                  <c:pt idx="0">
                    <c:v>Age group</c:v>
                  </c:pt>
                </c:lvl>
              </c:multiLvlStrCache>
            </c:multiLvlStrRef>
          </c:cat>
          <c:val>
            <c:numRef>
              <c:f>Sheet1!$C$20:$C$24</c:f>
              <c:numCache>
                <c:formatCode>General</c:formatCode>
                <c:ptCount val="5"/>
                <c:pt idx="0">
                  <c:v>1</c:v>
                </c:pt>
                <c:pt idx="1">
                  <c:v>8</c:v>
                </c:pt>
                <c:pt idx="2">
                  <c:v>1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DF-41B2-B82A-719745D78294}"/>
            </c:ext>
          </c:extLst>
        </c:ser>
        <c:ser>
          <c:idx val="1"/>
          <c:order val="1"/>
          <c:tx>
            <c:strRef>
              <c:f>Sheet1!$D$19</c:f>
              <c:strCache>
                <c:ptCount val="1"/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cat>
            <c:multiLvlStrRef>
              <c:f>Sheet1!$A$20:$B$24</c:f>
              <c:multiLvlStrCache>
                <c:ptCount val="5"/>
                <c:lvl>
                  <c:pt idx="0">
                    <c:v>18–25</c:v>
                  </c:pt>
                  <c:pt idx="1">
                    <c:v>26–35</c:v>
                  </c:pt>
                  <c:pt idx="2">
                    <c:v>26–36</c:v>
                  </c:pt>
                  <c:pt idx="3">
                    <c:v>36–45</c:v>
                  </c:pt>
                  <c:pt idx="4">
                    <c:v>46–55</c:v>
                  </c:pt>
                </c:lvl>
                <c:lvl>
                  <c:pt idx="0">
                    <c:v>Age group</c:v>
                  </c:pt>
                </c:lvl>
              </c:multiLvlStrCache>
            </c:multiLvlStrRef>
          </c:cat>
          <c:val>
            <c:numRef>
              <c:f>Sheet1!$D$20:$D$24</c:f>
              <c:numCache>
                <c:formatCode>General</c:formatCode>
                <c:ptCount val="5"/>
                <c:pt idx="0">
                  <c:v>5</c:v>
                </c:pt>
                <c:pt idx="1">
                  <c:v>40</c:v>
                </c:pt>
                <c:pt idx="2">
                  <c:v>5</c:v>
                </c:pt>
                <c:pt idx="3">
                  <c:v>35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DF-41B2-B82A-719745D782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3514328"/>
        <c:axId val="439408992"/>
      </c:barChart>
      <c:catAx>
        <c:axId val="233514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9408992"/>
        <c:crosses val="autoZero"/>
        <c:auto val="1"/>
        <c:lblAlgn val="ctr"/>
        <c:lblOffset val="100"/>
        <c:noMultiLvlLbl val="0"/>
      </c:catAx>
      <c:valAx>
        <c:axId val="4394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3514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Sheet1!$C$26</c:f>
              <c:strCache>
                <c:ptCount val="1"/>
                <c:pt idx="0">
                  <c:v>Frequency (n)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507-4BF9-81CA-190CF1F1398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507-4BF9-81CA-190CF1F13985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multiLvlStrRef>
              <c:f>Sheet1!$A$27:$B$28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  <c:lvl>
                  <c:pt idx="0">
                    <c:v>Gender</c:v>
                  </c:pt>
                </c:lvl>
              </c:multiLvlStrCache>
            </c:multiLvlStrRef>
          </c:cat>
          <c:val>
            <c:numRef>
              <c:f>Sheet1!$C$27:$C$28</c:f>
              <c:numCache>
                <c:formatCode>General</c:formatCode>
                <c:ptCount val="2"/>
                <c:pt idx="0">
                  <c:v>16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07-4BF9-81CA-190CF1F1398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Sheet2!$C$1</c:f>
              <c:strCache>
                <c:ptCount val="1"/>
                <c:pt idx="0">
                  <c:v>Frequency (n)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Sheet2!$A$2:$B$3</c:f>
              <c:multiLvlStrCache>
                <c:ptCount val="2"/>
                <c:lvl>
                  <c:pt idx="0">
                    <c:v>High</c:v>
                  </c:pt>
                  <c:pt idx="1">
                    <c:v>Moderate</c:v>
                  </c:pt>
                </c:lvl>
                <c:lvl>
                  <c:pt idx="0">
                    <c:v>Physical fitness</c:v>
                  </c:pt>
                </c:lvl>
              </c:multiLvlStrCache>
            </c:multiLvlStrRef>
          </c:cat>
          <c:val>
            <c:numRef>
              <c:f>Sheet2!$C$2:$C$3</c:f>
              <c:numCache>
                <c:formatCode>General</c:formatCode>
                <c:ptCount val="2"/>
                <c:pt idx="0">
                  <c:v>9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5-493F-85A1-B43ACA9B7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7812640"/>
        <c:axId val="437813032"/>
      </c:barChart>
      <c:catAx>
        <c:axId val="4378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813032"/>
        <c:crosses val="autoZero"/>
        <c:auto val="1"/>
        <c:lblAlgn val="ctr"/>
        <c:lblOffset val="100"/>
        <c:noMultiLvlLbl val="0"/>
      </c:catAx>
      <c:valAx>
        <c:axId val="437813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812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D0E7A-C1B7-4969-994C-001B4ED5B8A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120FD-441D-48EE-A51A-4750D2880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4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96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3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63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7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2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24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27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80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D1346D-F95F-44C5-8834-68A4FBB226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85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09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9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5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4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4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8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4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80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1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0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16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30D0B-AD00-403B-B605-B9516FF8AC65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F9051-ACBC-46E9-9D6D-6615670CE7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10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png"/><Relationship Id="rId7" Type="http://schemas.openxmlformats.org/officeDocument/2006/relationships/image" Target="../media/image10.svg"/><Relationship Id="rId12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image" Target="../media/image12.svg"/><Relationship Id="rId10" Type="http://schemas.openxmlformats.org/officeDocument/2006/relationships/image" Target="../media/image6.sv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1.png"/><Relationship Id="rId9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30" y="1522499"/>
            <a:ext cx="10820399" cy="1740381"/>
          </a:xfrm>
        </p:spPr>
        <p:txBody>
          <a:bodyPr>
            <a:noAutofit/>
          </a:bodyPr>
          <a:lstStyle/>
          <a:p>
            <a:pPr lvl="1">
              <a:spcBef>
                <a:spcPts val="1000"/>
              </a:spcBef>
            </a:pPr>
            <a:r>
              <a:rPr lang="en-US" sz="3500" b="1" dirty="0" smtClean="0">
                <a:solidFill>
                  <a:srgbClr val="E55D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hunk Five"/>
                <a:cs typeface="Arial" panose="020B0604020202020204" pitchFamily="34" charset="0"/>
                <a:sym typeface="Chunk Five"/>
              </a:rPr>
              <a:t>The Effect of Structured Physical Exercises on Improving Alertness Among Participants in the Learning Days 2026 Cohort: A Block-Randomized Controlled Trial.</a:t>
            </a:r>
            <a:r>
              <a:rPr lang="en-US" sz="3500" dirty="0" smtClean="0">
                <a:solidFill>
                  <a:srgbClr val="E55D55"/>
                </a:solidFill>
                <a:latin typeface="Arial" panose="020B0604020202020204" pitchFamily="34" charset="0"/>
                <a:ea typeface="Chunk Five"/>
                <a:cs typeface="Arial" panose="020B0604020202020204" pitchFamily="34" charset="0"/>
                <a:sym typeface="Chunk Five"/>
              </a:rPr>
              <a:t/>
            </a:r>
            <a:br>
              <a:rPr lang="en-US" sz="3500" dirty="0" smtClean="0">
                <a:solidFill>
                  <a:srgbClr val="E55D55"/>
                </a:solidFill>
                <a:latin typeface="Arial" panose="020B0604020202020204" pitchFamily="34" charset="0"/>
                <a:ea typeface="Chunk Five"/>
                <a:cs typeface="Arial" panose="020B0604020202020204" pitchFamily="34" charset="0"/>
                <a:sym typeface="Chunk Five"/>
              </a:rPr>
            </a:br>
            <a:r>
              <a:rPr lang="en-US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5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5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659130"/>
            <a:ext cx="9512489" cy="198869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sz="3600" dirty="0"/>
          </a:p>
        </p:txBody>
      </p:sp>
      <p:sp>
        <p:nvSpPr>
          <p:cNvPr id="5" name="Freeform 12"/>
          <p:cNvSpPr/>
          <p:nvPr/>
        </p:nvSpPr>
        <p:spPr>
          <a:xfrm flipH="1">
            <a:off x="1172500" y="4321782"/>
            <a:ext cx="1660003" cy="2337348"/>
          </a:xfrm>
          <a:custGeom>
            <a:avLst/>
            <a:gdLst/>
            <a:ahLst/>
            <a:cxnLst/>
            <a:rect l="l" t="t" r="r" b="b"/>
            <a:pathLst>
              <a:path w="7330317" h="11324928">
                <a:moveTo>
                  <a:pt x="7330317" y="0"/>
                </a:moveTo>
                <a:lnTo>
                  <a:pt x="0" y="0"/>
                </a:lnTo>
                <a:lnTo>
                  <a:pt x="0" y="11324929"/>
                </a:lnTo>
                <a:lnTo>
                  <a:pt x="7330317" y="11324929"/>
                </a:lnTo>
                <a:lnTo>
                  <a:pt x="73303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/>
          <p:cNvSpPr/>
          <p:nvPr/>
        </p:nvSpPr>
        <p:spPr>
          <a:xfrm>
            <a:off x="3421018" y="4222732"/>
            <a:ext cx="1418265" cy="2226611"/>
          </a:xfrm>
          <a:custGeom>
            <a:avLst/>
            <a:gdLst/>
            <a:ahLst/>
            <a:cxnLst/>
            <a:rect l="l" t="t" r="r" b="b"/>
            <a:pathLst>
              <a:path w="3242338" h="6024615">
                <a:moveTo>
                  <a:pt x="0" y="0"/>
                </a:moveTo>
                <a:lnTo>
                  <a:pt x="3242338" y="0"/>
                </a:lnTo>
                <a:lnTo>
                  <a:pt x="3242338" y="6024615"/>
                </a:lnTo>
                <a:lnTo>
                  <a:pt x="0" y="6024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9"/>
          <p:cNvSpPr/>
          <p:nvPr/>
        </p:nvSpPr>
        <p:spPr>
          <a:xfrm>
            <a:off x="5825309" y="4222732"/>
            <a:ext cx="1622972" cy="2257075"/>
          </a:xfrm>
          <a:custGeom>
            <a:avLst/>
            <a:gdLst/>
            <a:ahLst/>
            <a:cxnLst/>
            <a:rect l="l" t="t" r="r" b="b"/>
            <a:pathLst>
              <a:path w="5295701" h="8799504">
                <a:moveTo>
                  <a:pt x="0" y="0"/>
                </a:moveTo>
                <a:lnTo>
                  <a:pt x="5295701" y="0"/>
                </a:lnTo>
                <a:lnTo>
                  <a:pt x="5295701" y="8799503"/>
                </a:lnTo>
                <a:lnTo>
                  <a:pt x="0" y="87995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611974" y="3980624"/>
            <a:ext cx="2509646" cy="2488597"/>
          </a:xfrm>
          <a:custGeom>
            <a:avLst/>
            <a:gdLst/>
            <a:ahLst/>
            <a:cxnLst/>
            <a:rect l="l" t="t" r="r" b="b"/>
            <a:pathLst>
              <a:path w="7564003" h="6505043">
                <a:moveTo>
                  <a:pt x="0" y="0"/>
                </a:moveTo>
                <a:lnTo>
                  <a:pt x="7564003" y="0"/>
                </a:lnTo>
                <a:lnTo>
                  <a:pt x="7564003" y="6505043"/>
                </a:lnTo>
                <a:lnTo>
                  <a:pt x="0" y="65050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5314" y="5963657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22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308113"/>
            <a:ext cx="8146519" cy="1292087"/>
          </a:xfrm>
        </p:spPr>
        <p:txBody>
          <a:bodyPr>
            <a:noAutofit/>
          </a:bodyPr>
          <a:lstStyle/>
          <a:p>
            <a:pPr algn="ctr">
              <a:lnSpc>
                <a:spcPts val="3442"/>
              </a:lnSpc>
            </a:pPr>
            <a:r>
              <a:rPr lang="en-US" sz="3500" b="1" dirty="0" smtClean="0"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Structured Exercise Group (SEG)</a:t>
            </a:r>
            <a:endParaRPr lang="en-US" sz="3500" b="1" dirty="0"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966" y="2484782"/>
            <a:ext cx="7792277" cy="1262271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Musiliu</a:t>
            </a: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Adeolu</a:t>
            </a: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Adewole</a:t>
            </a:r>
            <a:endParaRPr lang="en-US" sz="2500" b="1" dirty="0" smtClean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Roseline</a:t>
            </a: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Dzekem</a:t>
            </a: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Dine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Precious </a:t>
            </a: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Nguher</a:t>
            </a:r>
            <a:r>
              <a:rPr lang="en-US" sz="2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Ifan</a:t>
            </a:r>
            <a:endParaRPr lang="en-US" sz="2500" b="1" dirty="0" smtClean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559" y="6105510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8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340" y="427382"/>
            <a:ext cx="7033845" cy="795131"/>
          </a:xfrm>
        </p:spPr>
        <p:txBody>
          <a:bodyPr>
            <a:noAutofit/>
          </a:bodyPr>
          <a:lstStyle/>
          <a:p>
            <a:pPr algn="ctr">
              <a:lnSpc>
                <a:spcPts val="3442"/>
              </a:lnSpc>
            </a:pPr>
            <a:r>
              <a:rPr lang="en-US" sz="3500" b="1" dirty="0" smtClean="0"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Background</a:t>
            </a:r>
            <a:endParaRPr lang="en-US" sz="3500" b="1" dirty="0"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851" y="1222513"/>
            <a:ext cx="10500053" cy="1512230"/>
          </a:xfrm>
        </p:spPr>
        <p:txBody>
          <a:bodyPr>
            <a:noAutofit/>
          </a:bodyPr>
          <a:lstStyle/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Alertness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is a state of mental and physical readiness essential for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learning, memory, decision-making, and academic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(Krause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et al.,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is regulated by the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body’s sleep pressure,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which influence cognitive functioning throughout the day (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Borbély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et al.,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2016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Before lunchtime,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alertness may decline due to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inadequate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sleep, prolonged cognitive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effort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hunger.</a:t>
            </a: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Reduced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alertness can lead to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drowsiness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poor concentration, slower reaction times, and reduced learning and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productivity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(Lim and </a:t>
            </a:r>
            <a:r>
              <a:rPr lang="en-US" sz="2500" dirty="0" err="1">
                <a:latin typeface="Arial" panose="020B0604020202020204" pitchFamily="34" charset="0"/>
                <a:cs typeface="Arial" panose="020B0604020202020204" pitchFamily="34" charset="0"/>
              </a:rPr>
              <a:t>Dinges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2010).</a:t>
            </a:r>
          </a:p>
          <a:p>
            <a:pPr algn="just"/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Thus, interventions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that enhance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alertness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during this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period are assumed to  improve alertness (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Krause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et al.,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2017).</a:t>
            </a:r>
          </a:p>
          <a:p>
            <a:pPr algn="just"/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019" y="5906727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02677" y="7939"/>
            <a:ext cx="9612923" cy="1118094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/>
          <a:p>
            <a:r>
              <a:rPr lang="en-US" sz="3500" b="1" dirty="0" smtClean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/>
            </a:r>
            <a:br>
              <a:rPr lang="en-US" sz="3500" b="1" dirty="0" smtClean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</a:br>
            <a:r>
              <a:rPr lang="en-US" sz="3500" b="1" dirty="0" smtClean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  <a:t>High Level Question</a:t>
            </a:r>
            <a:br>
              <a:rPr lang="en-US" sz="3500" b="1" dirty="0" smtClean="0">
                <a:solidFill>
                  <a:srgbClr val="000000"/>
                </a:solidFill>
                <a:latin typeface="Arial" panose="020B0604020202020204" pitchFamily="34" charset="0"/>
                <a:ea typeface="Canva Sans Bold"/>
                <a:cs typeface="Arial" panose="020B0604020202020204" pitchFamily="34" charset="0"/>
                <a:sym typeface="Canva Sans Bold"/>
              </a:rPr>
            </a:br>
            <a: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136776" y="974288"/>
            <a:ext cx="81502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17" indent="-342917">
              <a:buFont typeface="Wingdings" panose="05000000000000000000" pitchFamily="2" charset="2"/>
              <a:buChar char="ü"/>
            </a:pPr>
            <a:endParaRPr lang="en-US" sz="2000" dirty="0">
              <a:solidFill>
                <a:srgbClr val="7030A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40832" y="964404"/>
            <a:ext cx="80794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17" indent="-342917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93473" y="1174343"/>
            <a:ext cx="78268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17" indent="-342917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6523" y="1326088"/>
            <a:ext cx="5246079" cy="492231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US" sz="2500" b="1" dirty="0" smtClean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Does short structured physical exercises improve alertness among participants in the learning days 2026 cohort?</a:t>
            </a:r>
          </a:p>
          <a:p>
            <a:pPr>
              <a:lnSpc>
                <a:spcPct val="107000"/>
              </a:lnSpc>
            </a:pPr>
            <a:endParaRPr lang="en-US" sz="25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58545" y="1326088"/>
            <a:ext cx="6348707" cy="2026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4040"/>
              </a:lnSpc>
            </a:pPr>
            <a:endParaRPr lang="en-US" sz="2500" b="1" dirty="0" smtClean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>
              <a:lnSpc>
                <a:spcPts val="4040"/>
              </a:lnSpc>
            </a:pPr>
            <a:r>
              <a:rPr lang="en-US" sz="2500" b="1" dirty="0" smtClean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SRQ 1</a:t>
            </a:r>
            <a:endParaRPr lang="en-US" sz="2500" dirty="0" smtClean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697830" lvl="1" indent="-348915">
              <a:lnSpc>
                <a:spcPts val="4040"/>
              </a:lnSpc>
              <a:buFont typeface="Arial"/>
              <a:buChar char="•"/>
            </a:pPr>
            <a:r>
              <a:rPr lang="en-US" sz="2500" dirty="0" smtClean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What is the alertness status of participants before and after the intervention? </a:t>
            </a:r>
          </a:p>
          <a:p>
            <a:pPr>
              <a:lnSpc>
                <a:spcPct val="107000"/>
              </a:lnSpc>
            </a:pPr>
            <a:endParaRPr lang="en-US" sz="25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58545" y="3552855"/>
            <a:ext cx="6348707" cy="26955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endParaRPr lang="en-US" sz="2500" b="1" dirty="0" smtClean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>
              <a:lnSpc>
                <a:spcPct val="107000"/>
              </a:lnSpc>
            </a:pPr>
            <a:r>
              <a:rPr lang="en-US" sz="2500" b="1" dirty="0" smtClean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SRQ </a:t>
            </a:r>
            <a:r>
              <a:rPr lang="en-US" sz="2500" b="1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2</a:t>
            </a:r>
            <a:endParaRPr lang="en-US" sz="2500" b="1" dirty="0" smtClean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342900" lvl="1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Is there a difference in post-intervention alertness status between blocks participants who received the interventions and control? </a:t>
            </a:r>
          </a:p>
          <a:p>
            <a:pPr>
              <a:lnSpc>
                <a:spcPct val="107000"/>
              </a:lnSpc>
            </a:pPr>
            <a:endParaRPr lang="en-US" sz="2500" dirty="0" smtClean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endParaRPr lang="en-US" sz="25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32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220307" cy="1834166"/>
          </a:xfrm>
        </p:spPr>
        <p:txBody>
          <a:bodyPr>
            <a:noAutofit/>
          </a:bodyPr>
          <a:lstStyle/>
          <a:p>
            <a:pPr>
              <a:lnSpc>
                <a:spcPts val="6898"/>
              </a:lnSpc>
            </a:pPr>
            <a:r>
              <a:rPr lang="en-US" sz="40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fornian FB" panose="0207040306080B030204" pitchFamily="18" charset="0"/>
                <a:ea typeface="Kooperativ"/>
                <a:cs typeface="Kooperativ"/>
                <a:sym typeface="Kooperativ"/>
              </a:rPr>
              <a:t>MIDA</a:t>
            </a:r>
            <a:endParaRPr lang="en-US" sz="40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fornian FB" panose="0207040306080B030204" pitchFamily="18" charset="0"/>
              <a:ea typeface="Kooperativ"/>
              <a:cs typeface="Kooperativ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06221"/>
            <a:ext cx="9512489" cy="4708477"/>
          </a:xfrm>
        </p:spPr>
        <p:txBody>
          <a:bodyPr>
            <a:noAutofit/>
          </a:bodyPr>
          <a:lstStyle/>
          <a:p>
            <a:pPr marL="742950" lvl="1" indent="-742950">
              <a:spcBef>
                <a:spcPts val="1000"/>
              </a:spcBef>
              <a:buAutoNum type="arabicPeriod"/>
            </a:pPr>
            <a:r>
              <a:rPr lang="en-US" sz="2500" b="1" dirty="0" smtClean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</a:t>
            </a:r>
            <a:r>
              <a:rPr lang="en-US" sz="2500" dirty="0" smtClean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"/>
              </a:rPr>
              <a:t>- </a:t>
            </a:r>
            <a:endParaRPr lang="en-US" sz="2500" dirty="0" smtClean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571500" lvl="1" indent="-571500">
              <a:spcBef>
                <a:spcPts val="1000"/>
              </a:spcBef>
            </a:pPr>
            <a:r>
              <a:rPr lang="en-US" sz="2500" dirty="0" smtClean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N=20: 9 in the Anglophone block and 11 in the Francophone block</a:t>
            </a:r>
          </a:p>
          <a:p>
            <a:pPr marL="0" indent="0">
              <a:buNone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Y= </a:t>
            </a:r>
            <a:r>
              <a:rPr lang="el-GR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+T + X +e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𝑖 = 𝛽0 + 𝛽1𝑍𝑖 + 𝑒</a:t>
            </a:r>
          </a:p>
          <a:p>
            <a:pPr marL="0" lvl="0" indent="0">
              <a:buNone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Hypothesis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H₀: Exercise does not improve alertness</a:t>
            </a:r>
          </a:p>
          <a:p>
            <a:pPr lvl="1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H₁: Exercise improves alertness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8973B-B7E7-2056-9FED-1A5F34799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8" r="32997" b="1"/>
          <a:stretch/>
        </p:blipFill>
        <p:spPr>
          <a:xfrm>
            <a:off x="9648967" y="0"/>
            <a:ext cx="2543032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585" y="6124118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2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6" y="9939"/>
            <a:ext cx="4220307" cy="1834166"/>
          </a:xfrm>
        </p:spPr>
        <p:txBody>
          <a:bodyPr>
            <a:noAutofit/>
          </a:bodyPr>
          <a:lstStyle/>
          <a:p>
            <a:pPr>
              <a:lnSpc>
                <a:spcPts val="6898"/>
              </a:lnSpc>
            </a:pPr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MIDA</a:t>
            </a:r>
            <a:endParaRPr lang="en-US" sz="35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8" y="2006221"/>
            <a:ext cx="8862136" cy="407652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  <a:sym typeface="Poppins Bold"/>
              </a:rPr>
              <a:t>2. Inquiry </a:t>
            </a:r>
          </a:p>
          <a:p>
            <a:pPr>
              <a:lnSpc>
                <a:spcPct val="15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Does exercise really help Learning Days 2026 participants perform better in class?</a:t>
            </a:r>
            <a:endParaRPr lang="en-US" sz="2500" b="1" dirty="0" smtClean="0">
              <a:latin typeface="Arial" panose="020B0604020202020204" pitchFamily="34" charset="0"/>
              <a:cs typeface="Arial" panose="020B0604020202020204" pitchFamily="34" charset="0"/>
              <a:sym typeface="Poppins Bold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5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Estimand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Within blocks average size effect</a:t>
            </a:r>
          </a:p>
          <a:p>
            <a:pPr lvl="0">
              <a:lnSpc>
                <a:spcPct val="15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effect size among all participants </a:t>
            </a:r>
          </a:p>
        </p:txBody>
      </p:sp>
      <p:sp>
        <p:nvSpPr>
          <p:cNvPr id="6" name="Freeform 12"/>
          <p:cNvSpPr/>
          <p:nvPr/>
        </p:nvSpPr>
        <p:spPr>
          <a:xfrm>
            <a:off x="9577753" y="1180770"/>
            <a:ext cx="2092647" cy="4524291"/>
          </a:xfrm>
          <a:custGeom>
            <a:avLst/>
            <a:gdLst/>
            <a:ahLst/>
            <a:cxnLst/>
            <a:rect l="l" t="t" r="r" b="b"/>
            <a:pathLst>
              <a:path w="6667170" h="8793629">
                <a:moveTo>
                  <a:pt x="0" y="0"/>
                </a:moveTo>
                <a:lnTo>
                  <a:pt x="6667170" y="0"/>
                </a:lnTo>
                <a:lnTo>
                  <a:pt x="6667170" y="8793629"/>
                </a:lnTo>
                <a:lnTo>
                  <a:pt x="0" y="8793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1940" y="5956423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3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6" y="9939"/>
            <a:ext cx="6241773" cy="1834166"/>
          </a:xfrm>
        </p:spPr>
        <p:txBody>
          <a:bodyPr>
            <a:noAutofit/>
          </a:bodyPr>
          <a:lstStyle/>
          <a:p>
            <a:pPr>
              <a:lnSpc>
                <a:spcPts val="6898"/>
              </a:lnSpc>
            </a:pPr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MIDA-3. Data strategy </a:t>
            </a:r>
            <a:endParaRPr lang="en-US" sz="35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18" y="2006221"/>
            <a:ext cx="8862136" cy="4076527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X. et al. (2025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closest relevant meta-analysis, measured </a:t>
            </a:r>
            <a:r>
              <a:rPr lang="en-US" sz="2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awakeness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(energy, arousal, and reduced sleepiness) and reported effect sizes ranging from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0.20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0.39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assumed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effect size of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0.30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was adopted for this study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12"/>
          <p:cNvSpPr/>
          <p:nvPr/>
        </p:nvSpPr>
        <p:spPr>
          <a:xfrm>
            <a:off x="9577753" y="1180770"/>
            <a:ext cx="2092647" cy="4524291"/>
          </a:xfrm>
          <a:custGeom>
            <a:avLst/>
            <a:gdLst/>
            <a:ahLst/>
            <a:cxnLst/>
            <a:rect l="l" t="t" r="r" b="b"/>
            <a:pathLst>
              <a:path w="6667170" h="8793629">
                <a:moveTo>
                  <a:pt x="0" y="0"/>
                </a:moveTo>
                <a:lnTo>
                  <a:pt x="6667170" y="0"/>
                </a:lnTo>
                <a:lnTo>
                  <a:pt x="6667170" y="8793629"/>
                </a:lnTo>
                <a:lnTo>
                  <a:pt x="0" y="8793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1940" y="5956423"/>
            <a:ext cx="1530429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9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77107" y="99542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/>
          <a:p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MIDA - </a:t>
            </a:r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Poppins Bold"/>
              </a:rPr>
              <a:t>3. Data strategy</a:t>
            </a: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618892" y="3124200"/>
            <a:ext cx="2860431" cy="16764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their performance before and after the program. </a:t>
            </a:r>
          </a:p>
          <a:p>
            <a:pPr algn="ctr"/>
            <a:endParaRPr lang="en-US" sz="2000" dirty="0">
              <a:latin typeface="Palatino Linotype" panose="0204050205050503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182709" y="1447800"/>
            <a:ext cx="3915505" cy="176253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Conduct 2 to 3 minutes activity led by facilitator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30 seconds activity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6493" y="1447800"/>
            <a:ext cx="3763110" cy="16764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</a:rPr>
              <a:t>Treatment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group.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Control group </a:t>
            </a:r>
            <a:endParaRPr lang="en-US" sz="2000" b="1" dirty="0">
              <a:latin typeface="Palatino Linotype" panose="0204050205050503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69987" y="4800600"/>
            <a:ext cx="4126519" cy="1524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Randomization</a:t>
            </a:r>
          </a:p>
          <a:p>
            <a:pPr latinLnBrk="1"/>
            <a:r>
              <a:rPr lang="en-US" dirty="0"/>
              <a:t> </a:t>
            </a:r>
            <a:r>
              <a:rPr lang="en-US" dirty="0" smtClean="0"/>
              <a:t>    	0 	1</a:t>
            </a:r>
            <a:endParaRPr lang="en-US" dirty="0"/>
          </a:p>
          <a:p>
            <a:pPr latinLnBrk="1"/>
            <a:r>
              <a:rPr lang="en-US" dirty="0"/>
              <a:t>  E </a:t>
            </a:r>
            <a:r>
              <a:rPr lang="en-US" dirty="0" smtClean="0"/>
              <a:t>	4               </a:t>
            </a:r>
            <a:r>
              <a:rPr lang="en-US" dirty="0"/>
              <a:t>5</a:t>
            </a:r>
          </a:p>
          <a:p>
            <a:pPr latinLnBrk="1"/>
            <a:r>
              <a:rPr lang="en-US" dirty="0"/>
              <a:t>  F </a:t>
            </a:r>
            <a:r>
              <a:rPr lang="en-US" dirty="0" smtClean="0"/>
              <a:t>            7	4</a:t>
            </a:r>
            <a:r>
              <a:rPr lang="en-US" b="1" dirty="0" smtClean="0"/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2708" y="4648200"/>
            <a:ext cx="3915505" cy="16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/>
              <a:t>The outcome alertness was assessed for all at 13:00 PM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162800" y="2819400"/>
            <a:ext cx="9144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162800" y="46482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191000" y="4191000"/>
            <a:ext cx="838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4419600" y="2590800"/>
            <a:ext cx="8382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142" y="6248401"/>
            <a:ext cx="153022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3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5655365" y="4184374"/>
            <a:ext cx="596348" cy="36774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0.10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5655365" y="4184374"/>
            <a:ext cx="596348" cy="36774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7939"/>
            <a:ext cx="7086600" cy="1013143"/>
          </a:xfr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3600000" scaled="0"/>
          </a:gradFill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000" b="1" dirty="0" err="1" smtClean="0">
                <a:sym typeface="+mn-ea"/>
              </a:rPr>
              <a:t>Randamization</a:t>
            </a:r>
            <a:r>
              <a:rPr lang="en-US" sz="4000" b="1" dirty="0" smtClean="0">
                <a:sym typeface="+mn-ea"/>
              </a:rPr>
              <a:t> and Power</a:t>
            </a:r>
            <a:endParaRPr lang="en-US" sz="4000" dirty="0">
              <a:sym typeface="+mn-ea"/>
            </a:endParaRPr>
          </a:p>
        </p:txBody>
      </p:sp>
      <p:pic>
        <p:nvPicPr>
          <p:cNvPr id="8" name="Content Placeholder 7" descr="trauma 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23840" y="2046387"/>
            <a:ext cx="2116518" cy="3221352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227385" y="1600200"/>
            <a:ext cx="8322505" cy="45262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>
              <a:sym typeface="+mn-e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124" y="1600200"/>
            <a:ext cx="7956331" cy="421398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078" y="6095945"/>
            <a:ext cx="1530229" cy="60965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73947" y="3689851"/>
            <a:ext cx="777766" cy="4742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0.10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7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21A-2179-0A75-A457-F0A393D1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7" y="168965"/>
            <a:ext cx="4220307" cy="738554"/>
          </a:xfrm>
        </p:spPr>
        <p:txBody>
          <a:bodyPr>
            <a:noAutofit/>
          </a:bodyPr>
          <a:lstStyle/>
          <a:p>
            <a:pPr>
              <a:lnSpc>
                <a:spcPts val="6898"/>
              </a:lnSpc>
            </a:pPr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Kooperativ"/>
                <a:cs typeface="Arial" panose="020B0604020202020204" pitchFamily="34" charset="0"/>
                <a:sym typeface="Kooperativ"/>
              </a:rPr>
              <a:t>MIDA</a:t>
            </a:r>
            <a:endParaRPr lang="en-US" sz="3500" b="1" dirty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Kooperativ"/>
              <a:cs typeface="Arial" panose="020B0604020202020204" pitchFamily="34" charset="0"/>
              <a:sym typeface="Kooperativ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F0D8-860F-E3A9-FA12-3A6DEE07B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2" y="1282148"/>
            <a:ext cx="8984975" cy="25642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  <a:sym typeface="Poppins Bold"/>
              </a:rPr>
              <a:t>Answer strategy</a:t>
            </a:r>
          </a:p>
          <a:p>
            <a:pPr marL="0" indent="0">
              <a:buNone/>
            </a:pPr>
            <a:endParaRPr lang="en-US" sz="2500" b="1" dirty="0" smtClean="0">
              <a:latin typeface="Arial" panose="020B0604020202020204" pitchFamily="34" charset="0"/>
              <a:cs typeface="Arial" panose="020B0604020202020204" pitchFamily="34" charset="0"/>
              <a:sym typeface="Poppins Bold"/>
            </a:endParaRPr>
          </a:p>
          <a:p>
            <a:pPr>
              <a:lnSpc>
                <a:spcPct val="10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Compared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the exercise group with the control group.</a:t>
            </a:r>
          </a:p>
          <a:p>
            <a:pPr>
              <a:lnSpc>
                <a:spcPct val="10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Looked 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at their performance scores.</a:t>
            </a:r>
          </a:p>
          <a:p>
            <a:pPr>
              <a:lnSpc>
                <a:spcPct val="100000"/>
              </a:lnSpc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Decided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whether the exercise group performed better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89125" indent="-349250"/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(Alertness ~ Exercise + Block + controls)</a:t>
            </a:r>
          </a:p>
          <a:p>
            <a:pPr marL="1889125" lvl="0" indent="-349250"/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: Age, gender, fitness, caffeine, breakfast </a:t>
            </a:r>
          </a:p>
          <a:p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  <a:sym typeface="Poppins Bold"/>
            </a:endParaRPr>
          </a:p>
          <a:p>
            <a:endParaRPr lang="en-US" sz="2500" b="1" dirty="0" smtClean="0">
              <a:latin typeface="Arial" panose="020B0604020202020204" pitchFamily="34" charset="0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" name="Freeform 7"/>
          <p:cNvSpPr/>
          <p:nvPr/>
        </p:nvSpPr>
        <p:spPr>
          <a:xfrm>
            <a:off x="10041835" y="1776647"/>
            <a:ext cx="1524000" cy="3841420"/>
          </a:xfrm>
          <a:custGeom>
            <a:avLst/>
            <a:gdLst/>
            <a:ahLst/>
            <a:cxnLst/>
            <a:rect l="l" t="t" r="r" b="b"/>
            <a:pathLst>
              <a:path w="2635675" h="4379520">
                <a:moveTo>
                  <a:pt x="0" y="0"/>
                </a:moveTo>
                <a:lnTo>
                  <a:pt x="2635675" y="0"/>
                </a:lnTo>
                <a:lnTo>
                  <a:pt x="2635675" y="4379520"/>
                </a:lnTo>
                <a:lnTo>
                  <a:pt x="0" y="437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4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45068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rmAutofit/>
          </a:bodyPr>
          <a:lstStyle/>
          <a:p>
            <a:r>
              <a:rPr lang="en-US" sz="4000" b="1" dirty="0" smtClean="0">
                <a:solidFill>
                  <a:srgbClr val="002060"/>
                </a:solidFill>
                <a:latin typeface="Californian FB" panose="0207040306080B030204" pitchFamily="18" charset="0"/>
              </a:rPr>
              <a:t>Implementation report</a:t>
            </a:r>
            <a:endParaRPr lang="en-US" sz="4000" b="1" dirty="0">
              <a:solidFill>
                <a:srgbClr val="002060"/>
              </a:solidFill>
              <a:latin typeface="Californian FB" panose="0207040306080B030204" pitchFamily="18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984376" y="914400"/>
            <a:ext cx="79216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17" indent="-342917"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C00000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04492" y="3124200"/>
            <a:ext cx="3382108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Ethics-Informed consent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0884" y="1272350"/>
            <a:ext cx="4105116" cy="12652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Facilitators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: Group members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44385" y="4724400"/>
            <a:ext cx="4882571" cy="11893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Paper → Excel →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7229" y="4513133"/>
            <a:ext cx="4808136" cy="11794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Unit of analysis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Individual participant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105" y="1143000"/>
            <a:ext cx="4393098" cy="1676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Block randomization by language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477000" y="2590800"/>
            <a:ext cx="609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629400" y="4038600"/>
            <a:ext cx="4572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4038600" y="3886200"/>
            <a:ext cx="6858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4267200" y="2819400"/>
            <a:ext cx="4572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5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7939"/>
            <a:ext cx="7086600" cy="1013143"/>
          </a:xfr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3600000" scaled="0"/>
          </a:gradFill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3500" b="1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Results 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8" name="Content Placeholder 7" descr="trauma 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-132142" y="1173484"/>
            <a:ext cx="2116518" cy="472440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227385" y="1600200"/>
            <a:ext cx="8322505" cy="4526280"/>
          </a:xfrm>
        </p:spPr>
        <p:txBody>
          <a:bodyPr>
            <a:normAutofit/>
          </a:bodyPr>
          <a:lstStyle/>
          <a:p>
            <a:endParaRPr lang="en-US" sz="2400" dirty="0" smtClean="0">
              <a:sym typeface="+mn-e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069" y="0"/>
            <a:ext cx="10813773" cy="745068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/>
          <a:p>
            <a:r>
              <a:rPr lang="en-US" sz="35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 characteristics of participants (N = 20)</a:t>
            </a: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6013938" y="794082"/>
            <a:ext cx="47361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Gender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3415" y="777244"/>
            <a:ext cx="3810000" cy="643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0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Group</a:t>
            </a:r>
            <a:endParaRPr lang="en-US" sz="2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787184"/>
              </p:ext>
            </p:extLst>
          </p:nvPr>
        </p:nvGraphicFramePr>
        <p:xfrm>
          <a:off x="1" y="1652955"/>
          <a:ext cx="5227982" cy="41018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371194"/>
              </p:ext>
            </p:extLst>
          </p:nvPr>
        </p:nvGraphicFramePr>
        <p:xfrm>
          <a:off x="6189786" y="1664676"/>
          <a:ext cx="4693562" cy="4239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6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/>
      <p:bldGraphic spid="10" grpId="0">
        <p:bldAsOne/>
      </p:bldGraphic>
      <p:bldGraphic spid="11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7626" y="198782"/>
            <a:ext cx="11266642" cy="702655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/>
          <a:p>
            <a:r>
              <a:rPr lang="en-US" sz="35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 characteristics of participants (N = 20)</a:t>
            </a: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185991" y="889530"/>
            <a:ext cx="356407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Break fast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3415" y="745067"/>
            <a:ext cx="3810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5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5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fitness</a:t>
            </a:r>
            <a:endParaRPr lang="en-US" sz="25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67" y="1688124"/>
            <a:ext cx="5301303" cy="3967242"/>
          </a:xfrm>
          <a:prstGeom prst="rect">
            <a:avLst/>
          </a:prstGeom>
        </p:spPr>
      </p:pic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938585"/>
              </p:ext>
            </p:extLst>
          </p:nvPr>
        </p:nvGraphicFramePr>
        <p:xfrm>
          <a:off x="117231" y="1688123"/>
          <a:ext cx="5791200" cy="3847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7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7" grpId="0"/>
      <p:bldGraphic spid="12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3EFD-9029-BFAD-A85B-F6D5CB8A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FEDD-07F9-3884-61ED-11F053FE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432" y="1377933"/>
            <a:ext cx="5933660" cy="482444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Count by  Blocks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and Arms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A2AA-1A9B-CC0C-0289-F058FB20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17" y="2336874"/>
            <a:ext cx="4412974" cy="3278736"/>
          </a:xfrm>
        </p:spPr>
        <p:txBody>
          <a:bodyPr>
            <a:noAutofit/>
          </a:bodyPr>
          <a:lstStyle/>
          <a:p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=English block- 9</a:t>
            </a:r>
          </a:p>
          <a:p>
            <a:pPr lvl="1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 - 4</a:t>
            </a:r>
          </a:p>
          <a:p>
            <a:pPr lvl="1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Intervention - 5</a:t>
            </a:r>
          </a:p>
          <a:p>
            <a:pPr marL="457200" lvl="1" indent="0">
              <a:buNone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 = French block - 11</a:t>
            </a:r>
          </a:p>
          <a:p>
            <a:pPr lvl="2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control - 7</a:t>
            </a:r>
          </a:p>
          <a:p>
            <a:pPr lvl="2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Intervention - 4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5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92" y="2246242"/>
            <a:ext cx="4313073" cy="3687419"/>
          </a:xfrm>
          <a:prstGeom prst="rect">
            <a:avLst/>
          </a:prstGeom>
          <a:noFill/>
        </p:spPr>
      </p:pic>
      <p:sp>
        <p:nvSpPr>
          <p:cNvPr id="6" name="Title 3"/>
          <p:cNvSpPr txBox="1">
            <a:spLocks/>
          </p:cNvSpPr>
          <p:nvPr/>
        </p:nvSpPr>
        <p:spPr>
          <a:xfrm>
            <a:off x="387626" y="198782"/>
            <a:ext cx="11266642" cy="702655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b="1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Descriptive characteristics of participants (N = 20)</a:t>
            </a:r>
            <a:endParaRPr lang="en-US" sz="35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2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3EFD-9029-BFAD-A85B-F6D5CB8A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FEDD-07F9-3884-61ED-11F053FE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7" y="459763"/>
            <a:ext cx="10672549" cy="1080938"/>
          </a:xfrm>
        </p:spPr>
        <p:txBody>
          <a:bodyPr>
            <a:noAutofit/>
          </a:bodyPr>
          <a:lstStyle/>
          <a:p>
            <a:r>
              <a:rPr lang="en-US" sz="3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 model (GLM)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A2AA-1A9B-CC0C-0289-F058FB20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1540701"/>
            <a:ext cx="5784967" cy="499657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of hypothesis</a:t>
            </a: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statistically significant improvement in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alertness.</a:t>
            </a:r>
          </a:p>
          <a:p>
            <a:pPr algn="just"/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Regression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coefficient for intervention = -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0.195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p-value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= 0.839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500" kern="1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810" y="1803524"/>
            <a:ext cx="5674291" cy="415941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50800" dir="5400000" sx="4000" sy="4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3EFD-9029-BFAD-A85B-F6D5CB8A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FEDD-07F9-3884-61ED-11F053FE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0" y="498975"/>
            <a:ext cx="8851309" cy="1080938"/>
          </a:xfrm>
        </p:spPr>
        <p:txBody>
          <a:bodyPr>
            <a:noAutofit/>
          </a:bodyPr>
          <a:lstStyle/>
          <a:p>
            <a:r>
              <a:rPr lang="en-US" sz="3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Treatment effect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A2AA-1A9B-CC0C-0289-F058FB20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22" y="2336873"/>
            <a:ext cx="7642746" cy="4200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Testing of hypothesis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13" y="1579914"/>
            <a:ext cx="8830024" cy="4707458"/>
          </a:xfrm>
          <a:prstGeom prst="rect">
            <a:avLst/>
          </a:prstGeom>
        </p:spPr>
      </p:pic>
      <p:sp>
        <p:nvSpPr>
          <p:cNvPr id="10" name="Freeform 11"/>
          <p:cNvSpPr/>
          <p:nvPr/>
        </p:nvSpPr>
        <p:spPr>
          <a:xfrm flipH="1">
            <a:off x="8759564" y="224778"/>
            <a:ext cx="2670436" cy="5788396"/>
          </a:xfrm>
          <a:custGeom>
            <a:avLst/>
            <a:gdLst/>
            <a:ahLst/>
            <a:cxnLst/>
            <a:rect l="l" t="t" r="r" b="b"/>
            <a:pathLst>
              <a:path w="6668463" h="11080528">
                <a:moveTo>
                  <a:pt x="6668463" y="0"/>
                </a:moveTo>
                <a:lnTo>
                  <a:pt x="0" y="0"/>
                </a:lnTo>
                <a:lnTo>
                  <a:pt x="0" y="11080528"/>
                </a:lnTo>
                <a:lnTo>
                  <a:pt x="6668463" y="11080528"/>
                </a:lnTo>
                <a:lnTo>
                  <a:pt x="666846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4886" y="6105046"/>
            <a:ext cx="15302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63EFD-9029-BFAD-A85B-F6D5CB8A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4A2AA-1A9B-CC0C-0289-F058FB20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338" y="2336873"/>
            <a:ext cx="5591908" cy="4200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Testing of hypothesis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682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8" y="842681"/>
            <a:ext cx="7242313" cy="5150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921" y="6066156"/>
            <a:ext cx="1536325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8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4061" y="556155"/>
            <a:ext cx="9144000" cy="745068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rmAutofit/>
          </a:bodyPr>
          <a:lstStyle/>
          <a:p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  <a:endParaRPr lang="en-US" sz="35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46186" y="1849443"/>
            <a:ext cx="11383106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RCT found a non-significant Average Treatment Effect (ATE), unlike many observational studies that report stronger positive associations between exercise and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cognition.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Meta-analyses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indicate that acute exercise has a positive but modest effect, influenced by factors such as timing, task type, and exercise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intensity.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967" y="6056216"/>
            <a:ext cx="1536325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2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14061" y="556155"/>
            <a:ext cx="9144000" cy="745068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rmAutofit/>
          </a:bodyPr>
          <a:lstStyle/>
          <a:p>
            <a:r>
              <a:rPr lang="en-US" sz="3500" b="1" dirty="0" smtClean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Bias</a:t>
            </a:r>
            <a:endParaRPr lang="en-US" sz="3500" b="1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95881" y="1451878"/>
            <a:ext cx="8291527" cy="6440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Small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sample size (n = 20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limited statistical power, increasing the risk of a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Type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II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(failing to detect a true effect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Measurement error from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subjective responses may have attenuated the estimated treatment effect toward zero, contributing to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the non-significant ATE.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Consistency in delivery of intervention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967" y="6056216"/>
            <a:ext cx="1536325" cy="609653"/>
          </a:xfrm>
          <a:prstGeom prst="rect">
            <a:avLst/>
          </a:prstGeom>
        </p:spPr>
      </p:pic>
      <p:sp>
        <p:nvSpPr>
          <p:cNvPr id="9" name="Freeform 12"/>
          <p:cNvSpPr/>
          <p:nvPr/>
        </p:nvSpPr>
        <p:spPr>
          <a:xfrm>
            <a:off x="9501344" y="1544638"/>
            <a:ext cx="2028048" cy="4369146"/>
          </a:xfrm>
          <a:custGeom>
            <a:avLst/>
            <a:gdLst/>
            <a:ahLst/>
            <a:cxnLst/>
            <a:rect l="l" t="t" r="r" b="b"/>
            <a:pathLst>
              <a:path w="4035986" h="6767659">
                <a:moveTo>
                  <a:pt x="0" y="0"/>
                </a:moveTo>
                <a:lnTo>
                  <a:pt x="4035986" y="0"/>
                </a:lnTo>
                <a:lnTo>
                  <a:pt x="4035986" y="6767659"/>
                </a:lnTo>
                <a:lnTo>
                  <a:pt x="0" y="6767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0417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7939"/>
            <a:ext cx="7086600" cy="1013143"/>
          </a:xfr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3600000" scaled="0"/>
          </a:gradFill>
          <a:ln>
            <a:solidFill>
              <a:srgbClr val="92D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000" b="1" dirty="0" smtClean="0">
                <a:sym typeface="+mn-ea"/>
              </a:rPr>
              <a:t>Conclusion &amp; Recommendation</a:t>
            </a:r>
            <a:endParaRPr lang="en-US" sz="4000" dirty="0">
              <a:sym typeface="+mn-ea"/>
            </a:endParaRPr>
          </a:p>
        </p:txBody>
      </p:sp>
      <p:pic>
        <p:nvPicPr>
          <p:cNvPr id="8" name="Content Placeholder 7" descr="trauma 2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25058" y="1325907"/>
            <a:ext cx="2116518" cy="472440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2792896" y="1325907"/>
            <a:ext cx="8408504" cy="5035135"/>
          </a:xfrm>
        </p:spPr>
        <p:txBody>
          <a:bodyPr>
            <a:normAutofit/>
          </a:bodyPr>
          <a:lstStyle/>
          <a:p>
            <a:pPr algn="just"/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Structured physical exercise produced a small or no reduction in sleepiness.</a:t>
            </a:r>
          </a:p>
          <a:p>
            <a:pPr algn="just"/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Our study found no evidence that the intervention improved alertness among participants.</a:t>
            </a:r>
          </a:p>
          <a:p>
            <a:pPr marL="0" indent="0" algn="just">
              <a:buNone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967" y="6056216"/>
            <a:ext cx="1536325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1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43201" y="160338"/>
            <a:ext cx="7315200" cy="1165750"/>
          </a:xfrm>
          <a:prstGeom prst="rect">
            <a:avLst/>
          </a:prstGeom>
          <a:gradFill flip="none" rotWithShape="1">
            <a:gsLst>
              <a:gs pos="0">
                <a:srgbClr val="43B023"/>
              </a:gs>
              <a:gs pos="50000">
                <a:srgbClr val="ACF7A0"/>
              </a:gs>
              <a:gs pos="100000">
                <a:srgbClr val="43B023"/>
              </a:gs>
            </a:gsLst>
            <a:lin ang="162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Merci beaucoup !!!</a:t>
            </a:r>
            <a:endParaRPr lang="en-US" sz="3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 descr="blob:https://web.whatsapp.com/ddf26658-a370-4929-8716-9ab310056beb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5" descr="blob:https://web.whatsapp.com/8c6db5ae-f25b-40f2-b4fa-2b2d01422644"/>
          <p:cNvSpPr>
            <a:spLocks noChangeAspect="1" noChangeArrowheads="1"/>
          </p:cNvSpPr>
          <p:nvPr/>
        </p:nvSpPr>
        <p:spPr bwMode="auto">
          <a:xfrm>
            <a:off x="1831975" y="793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9218" name="Picture 2" descr="16,885 Thank You Cartoon Images, Stock Photos &amp; Vectors | Shutterstock">
            <a:extLst>
              <a:ext uri="{FF2B5EF4-FFF2-40B4-BE49-F238E27FC236}">
                <a16:creationId xmlns:a16="http://schemas.microsoft.com/office/drawing/2014/main" id="{68571105-CC4F-DD98-1362-0EE07F4BEB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723" y="1525380"/>
            <a:ext cx="4729284" cy="4693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58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723</Words>
  <Application>Microsoft Office PowerPoint</Application>
  <PresentationFormat>Widescreen</PresentationFormat>
  <Paragraphs>130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Calibri</vt:lpstr>
      <vt:lpstr>Calibri Light</vt:lpstr>
      <vt:lpstr>Californian FB</vt:lpstr>
      <vt:lpstr>Canva Sans Bold</vt:lpstr>
      <vt:lpstr>Chunk Five</vt:lpstr>
      <vt:lpstr>Kooperativ</vt:lpstr>
      <vt:lpstr>Palatino Linotype</vt:lpstr>
      <vt:lpstr>Poppins</vt:lpstr>
      <vt:lpstr>Poppins Bold</vt:lpstr>
      <vt:lpstr>Times New Roman</vt:lpstr>
      <vt:lpstr>Wingdings</vt:lpstr>
      <vt:lpstr>Office Theme</vt:lpstr>
      <vt:lpstr>The Effect of Structured Physical Exercises on Improving Alertness Among Participants in the Learning Days 2026 Cohort: A Block-Randomized Controlled Trial.  </vt:lpstr>
      <vt:lpstr>Structured Exercise Group (SEG)</vt:lpstr>
      <vt:lpstr>Background</vt:lpstr>
      <vt:lpstr> High Level Question  </vt:lpstr>
      <vt:lpstr>MIDA</vt:lpstr>
      <vt:lpstr>MIDA</vt:lpstr>
      <vt:lpstr>MIDA-3. Data strategy </vt:lpstr>
      <vt:lpstr>MIDA - 3. Data strategy</vt:lpstr>
      <vt:lpstr>Randamization and Power</vt:lpstr>
      <vt:lpstr>MIDA</vt:lpstr>
      <vt:lpstr>Implementation report</vt:lpstr>
      <vt:lpstr>Results </vt:lpstr>
      <vt:lpstr>Descriptive characteristics of participants (N = 20)</vt:lpstr>
      <vt:lpstr>Descriptive characteristics of participants (N = 20)</vt:lpstr>
      <vt:lpstr>Count by  Blocks and Arms   </vt:lpstr>
      <vt:lpstr>Regression model (GLM)</vt:lpstr>
      <vt:lpstr>Treatment effect</vt:lpstr>
      <vt:lpstr>PowerPoint Presentation</vt:lpstr>
      <vt:lpstr>Discussion</vt:lpstr>
      <vt:lpstr>Bias</vt:lpstr>
      <vt:lpstr>Conclusion &amp; Recommendation</vt:lpstr>
      <vt:lpstr>       Merci beaucoup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 Roseline Dzekem</dc:creator>
  <cp:lastModifiedBy>user</cp:lastModifiedBy>
  <cp:revision>106</cp:revision>
  <dcterms:created xsi:type="dcterms:W3CDTF">2026-06-12T04:53:53Z</dcterms:created>
  <dcterms:modified xsi:type="dcterms:W3CDTF">2026-06-13T16:55:05Z</dcterms:modified>
</cp:coreProperties>
</file>