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9" r:id="rId8"/>
    <p:sldId id="268" r:id="rId9"/>
    <p:sldId id="267" r:id="rId10"/>
    <p:sldId id="261" r:id="rId11"/>
    <p:sldId id="262" r:id="rId12"/>
    <p:sldId id="263" r:id="rId13"/>
    <p:sldId id="265" r:id="rId14"/>
    <p:sldId id="35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219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</a:t>
            </a:r>
            <a:r>
              <a:rPr lang="fr-FR" b="1" dirty="0"/>
              <a:t>boîtes se chevauchent très largement</a:t>
            </a:r>
            <a:r>
              <a:rPr lang="fr-FR" dirty="0"/>
              <a:t> dans toutes les comparaisons, et la dispersion à l'intérieur de chaque groupe (des scores allant de 0 à 8) est bien plus grande que les écarts entre groupes. C’est un peu la traduction graphique de la non-significativité statistique.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531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17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35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34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L’encouragement</a:t>
            </a:r>
            <a:r>
              <a:rPr lang="en-US" dirty="0"/>
              <a:t> </a:t>
            </a:r>
            <a:r>
              <a:rPr lang="en-US" dirty="0" err="1"/>
              <a:t>produit</a:t>
            </a:r>
            <a:r>
              <a:rPr lang="en-US" dirty="0"/>
              <a:t> </a:t>
            </a:r>
            <a:r>
              <a:rPr lang="en-US" dirty="0" err="1"/>
              <a:t>globalement</a:t>
            </a:r>
            <a:r>
              <a:rPr lang="en-US" dirty="0"/>
              <a:t> un </a:t>
            </a:r>
            <a:r>
              <a:rPr lang="en-US" dirty="0" err="1"/>
              <a:t>effet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de 0.18 mot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cet</a:t>
            </a:r>
            <a:r>
              <a:rPr lang="en-US" dirty="0"/>
              <a:t> </a:t>
            </a:r>
            <a:r>
              <a:rPr lang="en-US" dirty="0" err="1"/>
              <a:t>effet</a:t>
            </a:r>
            <a:r>
              <a:rPr lang="en-US" dirty="0"/>
              <a:t> </a:t>
            </a:r>
            <a:r>
              <a:rPr lang="en-US" dirty="0" err="1"/>
              <a:t>n’est</a:t>
            </a:r>
            <a:r>
              <a:rPr lang="en-US" dirty="0"/>
              <a:t> pas </a:t>
            </a:r>
            <a:r>
              <a:rPr lang="en-US" dirty="0" err="1"/>
              <a:t>significatif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5DD0DDC-BD02-8F3F-A847-8D4E5CFFB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4B5AC-7CD8-4111-8051-FDB34D4EA6FA}" type="datetimeFigureOut">
              <a:rPr lang="fr-FR" smtClean="0"/>
              <a:t>13/06/2026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310C094-018D-F1C7-B2D4-3DE785F7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5648D7-91F9-78C8-C658-13370A79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D2F06-3227-4AF7-8E25-9CE4978DB17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35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4" name="Image 0" descr="gen-dedup-05ed290968ffff965e19fe1e45f05a51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pic>
        <p:nvPicPr>
          <p:cNvPr id="5" name="Image 1" descr="gen-dedup-cea1856c6ee64ce70b5cc54d6c52c250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1143000" y="2286000"/>
            <a:ext cx="38405" cy="60963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933602"/>
            <a:ext cx="52294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200" b="1" dirty="0">
                <a:solidFill>
                  <a:schemeClr val="accent1"/>
                </a:solidFill>
              </a:rPr>
              <a:t>EGAP-Learning Days 2026</a:t>
            </a:r>
            <a:endParaRPr lang="fr-FR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13556343" y="933602"/>
            <a:ext cx="359414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37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Groupe A-Francophone · CERAP-EGAP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524305" y="2258568"/>
            <a:ext cx="7972376" cy="26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36" dirty="0" err="1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Expérience</a:t>
            </a:r>
            <a:r>
              <a:rPr lang="en-US" sz="1600" b="1" kern="0" spc="336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: · Effet de </a:t>
            </a:r>
            <a:r>
              <a:rPr lang="en-US" sz="1600" b="1" kern="0" spc="336" dirty="0" err="1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l’encouragement</a:t>
            </a:r>
            <a:r>
              <a:rPr lang="en-US" sz="1600" b="1" kern="0" spc="336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sur la mémorisation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524305" y="2857500"/>
            <a:ext cx="15240305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150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r>
              <a:rPr lang="en-US" sz="7500" b="1" kern="0" spc="-150" dirty="0" err="1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L’encouragement</a:t>
            </a:r>
            <a:r>
              <a:rPr lang="en-US" sz="7500" b="1" kern="0" spc="-150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verbal</a:t>
            </a:r>
            <a:endParaRPr lang="en-US" sz="7500" dirty="0"/>
          </a:p>
          <a:p>
            <a:pPr marL="0" indent="0" algn="l">
              <a:buNone/>
            </a:pPr>
            <a:r>
              <a:rPr lang="en-US" sz="7500" b="1" kern="0" spc="-150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améliore-t-il la</a:t>
            </a:r>
            <a:endParaRPr lang="en-US" sz="7500" dirty="0"/>
          </a:p>
          <a:p>
            <a:pPr marL="0" indent="0" algn="l">
              <a:buNone/>
            </a:pPr>
            <a:r>
              <a:rPr lang="en-US" sz="7500" b="1" i="1" kern="0" spc="-150" dirty="0">
                <a:solidFill>
                  <a:srgbClr val="C5303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performance cognitive ?</a:t>
            </a:r>
            <a:endParaRPr lang="en-US" sz="7500" dirty="0"/>
          </a:p>
        </p:txBody>
      </p:sp>
      <p:sp>
        <p:nvSpPr>
          <p:cNvPr id="10" name="Text 6"/>
          <p:cNvSpPr txBox="1"/>
          <p:nvPr/>
        </p:nvSpPr>
        <p:spPr>
          <a:xfrm>
            <a:off x="1524305" y="7125005"/>
            <a:ext cx="123828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A436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Une expérience randomisée par blocs en salle de formation pour évaluer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2A4365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l'impact d'un renforcement psychologique sur les capacités de mémorisation libre. 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1524305" y="8762695"/>
            <a:ext cx="4953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162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Groupe de recherche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524305" y="8953805"/>
            <a:ext cx="4953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 err="1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GroupeA</a:t>
            </a: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-Francophone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9296705"/>
            <a:ext cx="4953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CERAP-EGAP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239305" y="8382305"/>
            <a:ext cx="49533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Daniel GNIZA</a:t>
            </a:r>
          </a:p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</a:rPr>
              <a:t>Michel SAWADOGO</a:t>
            </a:r>
          </a:p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</a:rPr>
              <a:t>Jaures DAO</a:t>
            </a:r>
            <a:endParaRPr lang="en-US" sz="2100" dirty="0"/>
          </a:p>
        </p:txBody>
      </p:sp>
      <p:sp>
        <p:nvSpPr>
          <p:cNvPr id="19" name="Text 15"/>
          <p:cNvSpPr txBox="1"/>
          <p:nvPr/>
        </p:nvSpPr>
        <p:spPr>
          <a:xfrm>
            <a:off x="16584473" y="9982505"/>
            <a:ext cx="5623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143000" y="219456"/>
            <a:ext cx="44869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Introduction &amp; Contexte de Recherche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711574" y="2286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143000"/>
            <a:ext cx="1505011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Économie comportementale et incitations non-monétaires :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Le rôle psychologique de </a:t>
            </a:r>
            <a:r>
              <a:rPr lang="en-US" sz="4200" b="1" kern="0" spc="-42" dirty="0" err="1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l’encouragement</a:t>
            </a: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47694"/>
            <a:ext cx="15050110" cy="705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Le cadre théorique des </a:t>
            </a:r>
            <a:r>
              <a:rPr lang="en-US" sz="2400" b="1" dirty="0" err="1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incitations</a:t>
            </a:r>
            <a:r>
              <a:rPr lang="en-US" sz="24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r>
              <a:rPr lang="en-US" sz="2400" b="1" dirty="0" err="1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légères</a:t>
            </a:r>
            <a:r>
              <a:rPr lang="en-US" sz="24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: </a:t>
            </a:r>
            <a:r>
              <a:rPr lang="en-US" sz="24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Thaler</a:t>
            </a:r>
            <a:r>
              <a:rPr lang="en-US" sz="24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R. H., &amp; </a:t>
            </a:r>
            <a:r>
              <a:rPr lang="en-US" sz="24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Sunstein</a:t>
            </a:r>
            <a:r>
              <a:rPr lang="en-US" sz="24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C. R. (2008); </a:t>
            </a:r>
            <a:r>
              <a:rPr lang="en-US" sz="24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Beilock</a:t>
            </a:r>
            <a:r>
              <a:rPr lang="en-US" sz="24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S. L., &amp; </a:t>
            </a:r>
            <a:r>
              <a:rPr lang="en-US" sz="24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</a:t>
            </a:r>
            <a:r>
              <a:rPr lang="en-US" sz="24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T. H. (2001). . 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778757"/>
            <a:ext cx="150501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r>
              <a:rPr lang="en-US" sz="22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En économie comportementale et en psychologie sociale, </a:t>
            </a:r>
            <a:r>
              <a:rPr lang="en-US" sz="2200" dirty="0" err="1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l’effort</a:t>
            </a:r>
            <a:r>
              <a:rPr lang="en-US" sz="22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et la performance cognitive sont traditionnellement stimulés par des incitations financières ou matérielles. Cependant, la recherche moderne montre que des </a:t>
            </a:r>
            <a:r>
              <a:rPr lang="en-US" sz="2200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interventions non-monétaires</a:t>
            </a:r>
            <a:r>
              <a:rPr lang="en-US" sz="22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et des renforcements psychologiques subtils peuvent jouer un rôle déterminant. 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5272430"/>
            <a:ext cx="1482587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Les messages motivationnels écrits agissent comme des "nudges" (coups de pouce), activant des leviers de confiance en soi et </a:t>
            </a:r>
            <a:r>
              <a:rPr lang="en-US" sz="2200" dirty="0" err="1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réduisant</a:t>
            </a:r>
            <a:r>
              <a:rPr lang="en-US" sz="22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r>
              <a:rPr lang="en-US" sz="2200" dirty="0" err="1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l’anxiété</a:t>
            </a:r>
            <a:r>
              <a:rPr lang="en-US" sz="22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liée à </a:t>
            </a:r>
            <a:r>
              <a:rPr lang="en-US" sz="2200" dirty="0" err="1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l’évaluation</a:t>
            </a:r>
            <a:r>
              <a:rPr lang="en-US" sz="22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, ce qui est susceptible de libérer de la mémoire de travail disponible.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6598310"/>
            <a:ext cx="15210183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4A556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Cette expérience se propose de tester empiriquement si un simple message d'encouragement écrit, remis juste avant une tâche, a le pouvoir de modifier le rappel d'informations à court terme dans un cadre d'apprentissage standardisé.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16087954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2286000"/>
            <a:ext cx="75895" cy="192389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43000" y="4572000"/>
            <a:ext cx="7733995" cy="4304995"/>
          </a:xfrm>
          <a:prstGeom prst="roundRect">
            <a:avLst>
              <a:gd name="adj" fmla="val 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430207" y="4572000"/>
            <a:ext cx="7733995" cy="4304995"/>
          </a:xfrm>
          <a:prstGeom prst="roundRect">
            <a:avLst>
              <a:gd name="adj" fmla="val 3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143000" y="219456"/>
            <a:ext cx="5143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Problématique &amp; Formulation des Hypothèses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711574" y="2286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143000"/>
            <a:ext cx="17115739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Formulation scientifique de la question de recherche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1524305" y="2838298"/>
            <a:ext cx="15240305" cy="139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i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« Un message d'encouragement écrit, remis individuellement juste avant une tâche cognitive de mémorisation à court terme, améliore-t-il le nombre de mots correctement rappelés par les participants ? »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1524305" y="2590495"/>
            <a:ext cx="2981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46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 Principale de Recherche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524305" y="5257800"/>
            <a:ext cx="6954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Hypothèse Nulle (H₀)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24305" y="5695798"/>
            <a:ext cx="69540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message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d’encouragement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n'a aucun effet causal sur la mémorisation : la moyenne des scores de mémorisation dans le groupe traité est rigoureusement identique à celle du groupe contrôle.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24305" y="6782105"/>
            <a:ext cx="69540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5303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Hypothèse Alternative (H₁)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24305" y="7220102"/>
            <a:ext cx="6954012" cy="1256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message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d’encouragement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écrit active un mécanisme psychologique positif qui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augmente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l’effort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entraînant un score moyen de mémorisation supérieur à celui du groupe contrôle.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24305" y="4886554"/>
            <a:ext cx="30912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9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Hypothèses Expérimentales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810598" y="5257800"/>
            <a:ext cx="69540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Effet Moyen du Traitement (ATE)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810598" y="5639105"/>
            <a:ext cx="69540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paramètre central estimé est l'</a:t>
            </a: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Effet Moyen du Traitement (Average Treatment Effect - ATE)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810598" y="6400800"/>
            <a:ext cx="6953098" cy="523951"/>
          </a:xfrm>
          <a:prstGeom prst="roundRect">
            <a:avLst>
              <a:gd name="adj" fmla="val 25385"/>
            </a:avLst>
          </a:prstGeom>
          <a:solidFill>
            <a:srgbClr val="EDF2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810598" y="6400800"/>
            <a:ext cx="6954012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ATE = E[Y(1)] - E[Y(0)]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810598" y="7153351"/>
            <a:ext cx="6954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Où </a:t>
            </a: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Y(1)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représente le score potentiel sous traitement (message d'encouragement) et </a:t>
            </a: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Y(0)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 score potentiel sous contrôle (message neutre). L'analyse s'attache également à tester l'existence d'une hétérogénéité de cet effet causé par des facteurs de blocs linguistiques. 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10597" y="4886554"/>
            <a:ext cx="377477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9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Paramètre statistique d'Intérêt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3781044" cy="6305702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43500" y="2286000"/>
            <a:ext cx="3781044" cy="6305702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0" y="2286000"/>
            <a:ext cx="3781044" cy="6305702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144500" y="2286000"/>
            <a:ext cx="4000500" cy="6286500"/>
          </a:xfrm>
          <a:prstGeom prst="roundRect">
            <a:avLst>
              <a:gd name="adj" fmla="val 435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143000" y="219456"/>
            <a:ext cx="4819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Protocole Expérimental (Structure MIDA)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711574" y="2286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143000"/>
            <a:ext cx="16002000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Le protocole MIDA (Modèle, Interrogation, Données, Analyse)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1371600" y="2572207"/>
            <a:ext cx="323698" cy="267005"/>
          </a:xfrm>
          <a:prstGeom prst="roundRect">
            <a:avLst>
              <a:gd name="adj" fmla="val 4892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371600" y="2572207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1000" b="1" kern="0" spc="8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785823" y="2638044"/>
            <a:ext cx="4480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Modèle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029407"/>
            <a:ext cx="33055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Modèle théorique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501238"/>
            <a:ext cx="33055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Participants :</a:t>
            </a:r>
            <a:r>
              <a:rPr lang="en-US" sz="16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N = 21 praticiens et chercheurs formés aux méthodes d'évaluation. 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476902"/>
            <a:ext cx="33055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Canal psychologique :</a:t>
            </a:r>
            <a:r>
              <a:rPr lang="en-US" sz="16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Le message motivationnel agit sur l'attention et le sentiment d'auto-efficacité de l'apprenant. 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470855"/>
            <a:ext cx="3305556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556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La randomisation par blocs est justifiée par la nécessité de contrôler l'hétérogénéité initiale liée à la langue d'enseignement.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72100" y="2572207"/>
            <a:ext cx="323698" cy="267005"/>
          </a:xfrm>
          <a:prstGeom prst="roundRect">
            <a:avLst>
              <a:gd name="adj" fmla="val 4892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372100" y="2572207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1000" b="1" kern="0" spc="8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786323" y="2638044"/>
            <a:ext cx="9720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Interrogation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029407"/>
            <a:ext cx="33055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Interrogation clé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5372100" y="3501238"/>
            <a:ext cx="33055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Question :</a:t>
            </a:r>
            <a:r>
              <a:rPr lang="en-US" sz="16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Un encouragement verbal écrit modifie-t-il la capacité de rappel immédiat de mots ? 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372100" y="4476902"/>
            <a:ext cx="33055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Objectif d'évaluation :</a:t>
            </a:r>
            <a:r>
              <a:rPr lang="en-US" sz="16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Estimer l'effet de traitement moyen (ATE) global et par sous-groupes (blocs linguistiques). 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372100" y="5470855"/>
            <a:ext cx="33055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556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L'objectif est d'inférer si l'effet observé est statistiquement distinct d'une variation aléatoire.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372600" y="2572207"/>
            <a:ext cx="323698" cy="267005"/>
          </a:xfrm>
          <a:prstGeom prst="roundRect">
            <a:avLst>
              <a:gd name="adj" fmla="val 48924"/>
            </a:avLst>
          </a:prstGeom>
          <a:solidFill>
            <a:srgbClr val="C53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372600" y="2572207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1000" b="1" kern="0" spc="8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786823" y="2638044"/>
            <a:ext cx="5239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Données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372600" y="3029407"/>
            <a:ext cx="33055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Données collectées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9372600" y="3501238"/>
            <a:ext cx="33055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 = 21 :</a:t>
            </a:r>
            <a:r>
              <a:rPr lang="en-US" sz="16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11 en groupe contrôle, 10 en groupe traité. 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372600" y="4164178"/>
            <a:ext cx="33055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Intervention (T) :</a:t>
            </a:r>
            <a:r>
              <a:rPr lang="en-US" sz="16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Message motivationnel (« Fais de ton mieux ! ») vs neutre. 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372600" y="5101438"/>
            <a:ext cx="33055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Blocs linguistiques :</a:t>
            </a:r>
            <a:r>
              <a:rPr lang="en-US" sz="16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Anglophones (N = 13), Francophones (N = 8). 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372600" y="5764378"/>
            <a:ext cx="33055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Mesure (Y) :</a:t>
            </a:r>
            <a:r>
              <a:rPr lang="en-US" sz="16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Score de mémorisation sur un maximum de 15 mots en rappel libre (2 min). 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3373100" y="2572207"/>
            <a:ext cx="323698" cy="267005"/>
          </a:xfrm>
          <a:prstGeom prst="roundRect">
            <a:avLst>
              <a:gd name="adj" fmla="val 48924"/>
            </a:avLst>
          </a:prstGeom>
          <a:solidFill>
            <a:srgbClr val="C5303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3373100" y="2572207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1000" b="1" kern="0" spc="8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3787323" y="2638044"/>
            <a:ext cx="5239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3373100" y="3029407"/>
            <a:ext cx="35433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Analyse statistique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13373100" y="3501238"/>
            <a:ext cx="35433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DF2F7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Outil d'estimation :</a:t>
            </a:r>
            <a:r>
              <a:rPr lang="en-US" sz="1600" dirty="0">
                <a:solidFill>
                  <a:srgbClr val="EDF2F7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Régression linéaire avec prise en compte des effets fixes de blocs. 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3373100" y="4202582"/>
            <a:ext cx="35433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DF2F7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Inférence robuste :</a:t>
            </a:r>
            <a:r>
              <a:rPr lang="en-US" sz="1600" dirty="0">
                <a:solidFill>
                  <a:srgbClr val="EDF2F7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Estimation des erreurs-types robustes de type HC2 pour pallier la petite taille de l'échantillon. 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3373100" y="5196535"/>
            <a:ext cx="35433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EB2B2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Modélisation réalisée sous R avec le package </a:t>
            </a:r>
            <a:r>
              <a:rPr lang="en-US" sz="1600" i="1" dirty="0">
                <a:solidFill>
                  <a:srgbClr val="FEB2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estimatr</a:t>
            </a:r>
            <a:r>
              <a:rPr lang="en-US" sz="1600" i="1" dirty="0">
                <a:solidFill>
                  <a:srgbClr val="FEB2B2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afin de garantir la rigueur de l'ajustement par blocs. 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" y="9658807"/>
            <a:ext cx="513435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17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Protocole standardisé de recherche CERAP-EGAP · Inférence Causale Expérimentale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7733995" cy="6590995"/>
          </a:xfrm>
          <a:prstGeom prst="roundRect">
            <a:avLst>
              <a:gd name="adj" fmla="val 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Shape 4"/>
          <p:cNvSpPr/>
          <p:nvPr/>
        </p:nvSpPr>
        <p:spPr>
          <a:xfrm>
            <a:off x="9430207" y="2286000"/>
            <a:ext cx="7733995" cy="6590995"/>
          </a:xfrm>
          <a:prstGeom prst="roundRect">
            <a:avLst>
              <a:gd name="adj" fmla="val 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219456"/>
            <a:ext cx="5362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Rapport de mise en œuvre &amp; Limites du Design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6711574" y="2286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1776679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Déroulement de </a:t>
            </a:r>
            <a:r>
              <a:rPr lang="en-US" sz="4200" b="1" kern="0" spc="-42" dirty="0" err="1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l’expérience</a:t>
            </a: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et limites méthodologiques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1429207" y="2895905"/>
            <a:ext cx="7144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Le protocole séquentiel rigoureux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429207" y="3419856"/>
            <a:ext cx="342900" cy="3429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29207" y="3419856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923898" y="3390595"/>
            <a:ext cx="6648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Randomisation par blocs :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Attribution par tirage au sort au sein de chaque groupe linguistique (Anglophone vs Francophone).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29207" y="3991356"/>
            <a:ext cx="342900" cy="3429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29207" y="3991356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923898" y="3962095"/>
            <a:ext cx="6648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des fiches :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Fiche avec message d'encouragement personnalisé (Traitement) ou message neutre standardisé (Contrôle).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29207" y="4562856"/>
            <a:ext cx="342900" cy="3429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29207" y="4562856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923898" y="4533595"/>
            <a:ext cx="6648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Présentation orale :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Énonciation de 15 mots en rappel libre à un rythme fixe de 3 secondes par mot pour tous les participants.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429207" y="5134356"/>
            <a:ext cx="342900" cy="3429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29207" y="5134356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923898" y="5105095"/>
            <a:ext cx="6648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Tâche de rappel libre :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Les participants disposent de 2 minutes pour restituer par écrit le maximum de mots mémorisés.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29207" y="5705856"/>
            <a:ext cx="342900" cy="3429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29207" y="5705856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23898" y="5676595"/>
            <a:ext cx="6648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Collecte</a:t>
            </a: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correction :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Centralisation des fiches pour une correction en double aveugle et notation du score final sur 15.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429207" y="2600554"/>
            <a:ext cx="1848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Étapes de Mise en Œuvre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715500" y="2895905"/>
            <a:ext cx="7144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Identification des limites de l'expérience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9715500" y="3429000"/>
            <a:ext cx="7144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1. Puissance statistique critique (N = 21)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715500" y="3696005"/>
            <a:ext cx="7144207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L'échantillon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21 participants (11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10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traitement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particulièrement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réduit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induisant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fort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risque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d'erreur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Type II (ne pas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détecter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effet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réel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existant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et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sensibilité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extrême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aux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valeurs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aberrantes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715500" y="4653382"/>
            <a:ext cx="7144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2. Absence de mesure de </a:t>
            </a:r>
            <a:r>
              <a:rPr lang="en-US" sz="1600" b="1" dirty="0" err="1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référence</a:t>
            </a:r>
            <a:r>
              <a:rPr lang="en-US" sz="16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15500" y="4919472"/>
            <a:ext cx="7144207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test de mémorisation préalable n'a été mené. Bien que la randomisation équilibre théoriquement les groupes, l'absence de pré-test empêche de contrôler précisément les compétences de mémorisation initiales des individus.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15500" y="5876849"/>
            <a:ext cx="71442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3. </a:t>
            </a:r>
            <a:r>
              <a:rPr lang="en-US" sz="1600" b="1" dirty="0" err="1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Risque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725100" y="6301732"/>
            <a:ext cx="714420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participants, étant eux-mêmes des évaluateurs conscients de l'objet de la formation, peuvent avoir modifié leur comportement naturel sous l'influence du protocole expérimental.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715500" y="2600554"/>
            <a:ext cx="1848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Menaces sur la Validité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219456"/>
            <a:ext cx="5362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Rapport de mise en œuvre &amp; Limites du Design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6711574" y="2286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0604" y="1258095"/>
            <a:ext cx="1776679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</a:rPr>
              <a:t>DONNEES</a:t>
            </a:r>
            <a:endParaRPr lang="en-US" sz="5400" b="1" dirty="0"/>
          </a:p>
        </p:txBody>
      </p:sp>
      <p:sp>
        <p:nvSpPr>
          <p:cNvPr id="25" name="Text 23"/>
          <p:cNvSpPr txBox="1"/>
          <p:nvPr/>
        </p:nvSpPr>
        <p:spPr>
          <a:xfrm>
            <a:off x="1923898" y="5676595"/>
            <a:ext cx="6648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739" y="2199861"/>
            <a:ext cx="15611061" cy="68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10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219456"/>
            <a:ext cx="5362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Rapport de mise en œuvre &amp; Limites du Design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6711574" y="2286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60604" y="4743417"/>
            <a:ext cx="1776679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RESULTATS</a:t>
            </a:r>
            <a:endParaRPr lang="en-US" sz="5400" b="1" dirty="0"/>
          </a:p>
        </p:txBody>
      </p:sp>
      <p:sp>
        <p:nvSpPr>
          <p:cNvPr id="25" name="Text 23"/>
          <p:cNvSpPr txBox="1"/>
          <p:nvPr/>
        </p:nvSpPr>
        <p:spPr>
          <a:xfrm>
            <a:off x="1923898" y="5676595"/>
            <a:ext cx="66486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4B36E4C-5E3B-BA36-6D66-2AEB9F16BEC6}"/>
              </a:ext>
            </a:extLst>
          </p:cNvPr>
          <p:cNvSpPr txBox="1"/>
          <p:nvPr/>
        </p:nvSpPr>
        <p:spPr>
          <a:xfrm>
            <a:off x="3990109" y="6083334"/>
            <a:ext cx="106957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m3 &lt;- </a:t>
            </a:r>
            <a:r>
              <a:rPr lang="en-US" sz="2400" b="1" dirty="0" err="1"/>
              <a:t>lm_robust</a:t>
            </a:r>
            <a:r>
              <a:rPr lang="en-US" sz="2400" b="1" dirty="0"/>
              <a:t>(score ~ treatment, </a:t>
            </a:r>
            <a:r>
              <a:rPr lang="en-US" sz="2400" b="1" dirty="0" err="1"/>
              <a:t>fixed_effects</a:t>
            </a:r>
            <a:r>
              <a:rPr lang="en-US" sz="2400" b="1" dirty="0"/>
              <a:t> = ~language, data = </a:t>
            </a:r>
            <a:r>
              <a:rPr lang="en-US" sz="2400" b="1" dirty="0" err="1"/>
              <a:t>df</a:t>
            </a:r>
            <a:r>
              <a:rPr lang="en-US" sz="2400" b="1" dirty="0"/>
              <a:t>)</a:t>
            </a:r>
            <a:endParaRPr lang="fr-FR" sz="2400" b="1" dirty="0"/>
          </a:p>
          <a:p>
            <a:r>
              <a:rPr lang="fr-FR" sz="2400" b="1" dirty="0" err="1"/>
              <a:t>summary</a:t>
            </a:r>
            <a:r>
              <a:rPr lang="fr-FR" sz="2400" b="1" dirty="0"/>
              <a:t>(m3)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330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3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gen-dedup-5d8a48bdc2806142e674dadfc6adcb1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805" y="2095805"/>
            <a:ext cx="7830007" cy="7258507"/>
          </a:xfrm>
          <a:prstGeom prst="rect">
            <a:avLst/>
          </a:prstGeom>
        </p:spPr>
      </p:pic>
      <p:pic>
        <p:nvPicPr>
          <p:cNvPr id="5" name="Image 1" descr="gen-dedup-5d8a48bdc2806142e674dadfc6adcb1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305" y="2095805"/>
            <a:ext cx="7830007" cy="72585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52805" y="1409090"/>
            <a:ext cx="16383305" cy="1920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952805" y="761695"/>
            <a:ext cx="18669305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B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Statistiques descriptives - Expérience sur </a:t>
            </a:r>
            <a:r>
              <a:rPr lang="en-US" sz="3300" b="1" dirty="0" err="1">
                <a:solidFill>
                  <a:srgbClr val="1B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l’encouragement</a:t>
            </a:r>
            <a:r>
              <a:rPr lang="en-US" sz="3300" b="1" dirty="0">
                <a:solidFill>
                  <a:srgbClr val="1B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et la mémorisation</a:t>
            </a:r>
            <a:endParaRPr lang="en-US" sz="3300" dirty="0"/>
          </a:p>
        </p:txBody>
      </p:sp>
      <p:sp>
        <p:nvSpPr>
          <p:cNvPr id="8" name="Text 4"/>
          <p:cNvSpPr txBox="1"/>
          <p:nvPr/>
        </p:nvSpPr>
        <p:spPr>
          <a:xfrm>
            <a:off x="1333195" y="2476195"/>
            <a:ext cx="704911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TABLEAU 1 — Statistiques descriptives par groupe de traitement</a:t>
            </a:r>
            <a:endParaRPr lang="en-US" sz="2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1333195" y="3503066"/>
          <a:ext cx="7048194" cy="2953512"/>
        </p:xfrm>
        <a:graphic>
          <a:graphicData uri="http://schemas.openxmlformats.org/drawingml/2006/table">
            <a:tbl>
              <a:tblPr/>
              <a:tblGrid>
                <a:gridCol w="2023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6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83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Moyenne (/15)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Écart-type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3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Contrôle (0)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3,82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2,32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3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Traitement (1)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4,00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1,76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3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Différence brute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b="1" dirty="0">
                          <a:solidFill>
                            <a:srgbClr val="2E7D3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+0,18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>
                        <a:alpha val="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9905695" y="2476195"/>
            <a:ext cx="704911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A4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TABLEAU 2 — Statistiques descriptives par bloc et par groupe</a:t>
            </a:r>
            <a:endParaRPr lang="en-US" sz="2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9905695" y="3503066"/>
          <a:ext cx="7048195" cy="3667660"/>
        </p:xfrm>
        <a:graphic>
          <a:graphicData uri="http://schemas.openxmlformats.org/drawingml/2006/table">
            <a:tbl>
              <a:tblPr/>
              <a:tblGrid>
                <a:gridCol w="1784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3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Bloc (langue)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Groupe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Moyenne (/15)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Écart-type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Anglophone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Contrôle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3,43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2,37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Anglophone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Traitement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4,50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1,87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Francophone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Contrôle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4,50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2,38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1B2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Francophone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Traitement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3,25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50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1,50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757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71346"/>
            <a:ext cx="18288000" cy="10287000"/>
          </a:xfrm>
          <a:prstGeom prst="rect">
            <a:avLst/>
          </a:prstGeom>
          <a:solidFill>
            <a:srgbClr val="FAF9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52805" y="666598"/>
            <a:ext cx="163833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1917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Effet de l'encouragement sur la mémorisation - Résultats de régression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952805" y="1857146"/>
          <a:ext cx="16383305" cy="6558992"/>
        </p:xfrm>
        <a:graphic>
          <a:graphicData uri="http://schemas.openxmlformats.org/drawingml/2006/table">
            <a:tbl>
              <a:tblPr/>
              <a:tblGrid>
                <a:gridCol w="4095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7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76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57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1C191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Modèle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9144" marT="133502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i="1" dirty="0">
                          <a:solidFill>
                            <a:srgbClr val="1C1917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M1 Sans blocs</a:t>
                      </a:r>
                      <a:endParaRPr lang="en-US" sz="18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9144" marR="9144" marT="133502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i="1" dirty="0">
                          <a:solidFill>
                            <a:srgbClr val="1C1917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M2 Avec blocs</a:t>
                      </a:r>
                      <a:endParaRPr lang="en-US" sz="18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9144" marR="9144" marT="133502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i="1" dirty="0">
                          <a:solidFill>
                            <a:srgbClr val="1C1917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M3 FE blocs</a:t>
                      </a:r>
                      <a:endParaRPr lang="en-US" sz="18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9144" marR="9144" marT="133502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i="1" dirty="0">
                          <a:solidFill>
                            <a:srgbClr val="1C1917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M4 + covariable</a:t>
                      </a:r>
                      <a:endParaRPr lang="en-US" sz="18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9144" marR="9144" marT="133502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i="1" dirty="0">
                          <a:solidFill>
                            <a:srgbClr val="1C1917"/>
                          </a:solidFill>
                          <a:latin typeface="Source Serif 4" pitchFamily="34" charset="0"/>
                          <a:ea typeface="Source Serif 4" pitchFamily="34" charset="-122"/>
                          <a:cs typeface="Source Serif 4" pitchFamily="34" charset="-120"/>
                        </a:rPr>
                        <a:t>M5 FE + covariable</a:t>
                      </a:r>
                      <a:endParaRPr lang="en-US" sz="18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9144" marR="9144" marT="133502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(Intercept)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3.818***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3.838***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3.358***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(0.698)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(0.795)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(0.809)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treatment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0.182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0.184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0.184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0.136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0.136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(0.894)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(0.920)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(0.920)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(0.865)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(0.865)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languageFrench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-0.055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-0.367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917">
                        <a:alpha val="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(0.946)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(0.876)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statutP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1.633+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1.633+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(0.876)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50" dirty="0">
                          <a:solidFill>
                            <a:srgbClr val="6B6661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(0.876)</a:t>
                      </a:r>
                      <a:endParaRPr lang="en-US" sz="16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0" marB="75895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Num.Obs.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114300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114300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114300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114300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114300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114300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</a:t>
                      </a:r>
                      <a:r>
                        <a:rPr lang="en-US" sz="15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52705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0.002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0.002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0.002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0.158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0.158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</a:t>
                      </a:r>
                      <a:r>
                        <a:rPr lang="en-US" sz="15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Adj.</a:t>
                      </a:r>
                      <a:endParaRPr lang="en-US" sz="1200" dirty="0"/>
                    </a:p>
                  </a:txBody>
                  <a:tcPr marL="152705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-0.050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-0.109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-0.109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0.009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0.009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AIC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94.1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96.1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92.1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94.6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90.6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BIC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97.2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100.3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94.2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99.8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93.7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57607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255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RMSE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52705" marR="114300" marT="57607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1.97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1.97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1.97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1.81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92524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1.81</a:t>
                      </a:r>
                      <a:endParaRPr lang="en-US" sz="18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14300" marR="114300" marT="57607" marB="133502" anchor="ctr">
                    <a:lnL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1C19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52805" y="8820302"/>
            <a:ext cx="1638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753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Note :</a:t>
            </a:r>
            <a:r>
              <a:rPr lang="en-US" sz="1300" dirty="0">
                <a:solidFill>
                  <a:srgbClr val="5753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+ p &lt; 0.1, * p &lt; 0.05, ** p &lt; 0.01, *** p &lt; 0.001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52805" y="9115654"/>
            <a:ext cx="1638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7534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Erreurs-types robustes HC2 entre parenthèses.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6854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7733995" cy="6590995"/>
          </a:xfrm>
          <a:prstGeom prst="roundRect">
            <a:avLst>
              <a:gd name="adj" fmla="val 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30207" y="2286000"/>
            <a:ext cx="7733995" cy="6590995"/>
          </a:xfrm>
          <a:prstGeom prst="roundRect">
            <a:avLst>
              <a:gd name="adj" fmla="val 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219456"/>
            <a:ext cx="42675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Résultats Centraux de l'Estimation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6711574" y="2286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18091404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Effet moyen du traitement (ATE) global non significatif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1429207" y="2895905"/>
            <a:ext cx="7144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Indicateurs clés d'estimation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429207" y="3486607"/>
            <a:ext cx="3571646" cy="1457554"/>
          </a:xfrm>
          <a:prstGeom prst="roundRect">
            <a:avLst>
              <a:gd name="adj" fmla="val 32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628546" y="3952951"/>
            <a:ext cx="31720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3,82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000854" y="3486607"/>
            <a:ext cx="3571646" cy="1457554"/>
          </a:xfrm>
          <a:prstGeom prst="roundRect">
            <a:avLst>
              <a:gd name="adj" fmla="val 328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201107" y="3952951"/>
            <a:ext cx="31720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5303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4,00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1429207" y="5229454"/>
            <a:ext cx="7144207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29207" y="5429707"/>
          <a:ext cx="7144207" cy="1714500"/>
        </p:xfrm>
        <a:graphic>
          <a:graphicData uri="http://schemas.openxmlformats.org/drawingml/2006/table">
            <a:tbl>
              <a:tblPr/>
              <a:tblGrid>
                <a:gridCol w="4614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Effet Moyen du Traitement (ATE)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C5303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+0,18 mot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Intervalle de Confiance à 95% (IC95)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rgbClr val="1A202C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[-1,75 ; 2,12]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p-value (Significativité)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C53030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0,844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365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Significativité Statistique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b="1" dirty="0">
                          <a:solidFill>
                            <a:srgbClr val="E53E3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 SIGNIFICATIF</a:t>
                      </a:r>
                      <a:endParaRPr lang="en-US" sz="13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1429207" y="7372807"/>
            <a:ext cx="71442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6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Note : L'écart minime de +0,18 mot en faveur du groupe traité est statistiquement imperceptible (p-value extrêmement élevée de 0,844), ce qui nous empêche de rejeter l'hypothèse nulle d'absence d'effet global.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429207" y="2600554"/>
            <a:ext cx="29626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Statistiques Descriptives &amp; Inférence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2614270" y="3696005"/>
            <a:ext cx="12097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Groupe Contrôle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2296973" y="4572000"/>
            <a:ext cx="18370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mots rappelés (N = 11)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266383" y="3696005"/>
            <a:ext cx="1047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Groupe Traité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861304" y="4572000"/>
            <a:ext cx="185897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mots rappelés (N = 10)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715500" y="2895905"/>
            <a:ext cx="7144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Comparaison des moyennes de mémorisation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9715500" y="7867498"/>
            <a:ext cx="7144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Effet global observé (ATE) : +0,18 mot</a:t>
            </a:r>
            <a:r>
              <a:rPr lang="en-US" sz="12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(Intervalle d'incertitude très large) 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715500" y="2600554"/>
            <a:ext cx="18480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Visualisation Graphique</a:t>
            </a:r>
            <a:endParaRPr lang="en-US" sz="900" dirty="0"/>
          </a:p>
        </p:txBody>
      </p:sp>
      <p:pic>
        <p:nvPicPr>
          <p:cNvPr id="26" name="Image 0" descr="gen-dedup-07e1fde5eff5a825ff35b8770cf7398b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0477195" y="3771900"/>
            <a:ext cx="5905195" cy="9144"/>
          </a:xfrm>
          <a:prstGeom prst="rect">
            <a:avLst/>
          </a:prstGeom>
        </p:spPr>
      </p:pic>
      <p:pic>
        <p:nvPicPr>
          <p:cNvPr id="27" name="Image 1" descr="gen-dedup-07e1fde5eff5a825ff35b8770cf7398b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0477195" y="4533595"/>
            <a:ext cx="5905195" cy="9144"/>
          </a:xfrm>
          <a:prstGeom prst="rect">
            <a:avLst/>
          </a:prstGeom>
        </p:spPr>
      </p:pic>
      <p:pic>
        <p:nvPicPr>
          <p:cNvPr id="28" name="Image 2" descr="gen-dedup-07e1fde5eff5a825ff35b8770cf7398b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0477195" y="5296205"/>
            <a:ext cx="5905195" cy="9144"/>
          </a:xfrm>
          <a:prstGeom prst="rect">
            <a:avLst/>
          </a:prstGeom>
        </p:spPr>
      </p:pic>
      <p:pic>
        <p:nvPicPr>
          <p:cNvPr id="29" name="Image 3" descr="gen-dedup-07e1fde5eff5a825ff35b8770cf7398b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0477195" y="6057900"/>
            <a:ext cx="5905195" cy="9144"/>
          </a:xfrm>
          <a:prstGeom prst="rect">
            <a:avLst/>
          </a:prstGeom>
        </p:spPr>
      </p:pic>
      <p:pic>
        <p:nvPicPr>
          <p:cNvPr id="30" name="Image 4" descr="gen-dedup-6d4abd0c4f4ee9def62c2051f6162fa5.png"/>
          <p:cNvPicPr>
            <a:picLocks noChangeAspect="1"/>
          </p:cNvPicPr>
          <p:nvPr/>
        </p:nvPicPr>
        <p:blipFill>
          <a:blip r:embed="rId4"/>
          <a:srcRect t="-403" b="-403"/>
          <a:stretch/>
        </p:blipFill>
        <p:spPr>
          <a:xfrm>
            <a:off x="10477195" y="6819595"/>
            <a:ext cx="5905195" cy="192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715500" y="369600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5,0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9715500" y="4457700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3,75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9715500" y="521939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2,5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9715500" y="598200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1,25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9715500" y="6743700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0,0</a:t>
            </a:r>
            <a:endParaRPr lang="en-US" sz="1000" dirty="0"/>
          </a:p>
        </p:txBody>
      </p:sp>
      <p:pic>
        <p:nvPicPr>
          <p:cNvPr id="36" name="Image 5" descr="gen-dedup-5bf240386e98fe8d208baa14153f2707.png"/>
          <p:cNvPicPr>
            <a:picLocks noChangeAspect="1"/>
          </p:cNvPicPr>
          <p:nvPr/>
        </p:nvPicPr>
        <p:blipFill>
          <a:blip r:embed="rId5"/>
          <a:srcRect t="-15" b="-15"/>
          <a:stretch/>
        </p:blipFill>
        <p:spPr>
          <a:xfrm>
            <a:off x="11430000" y="4491533"/>
            <a:ext cx="1238098" cy="232897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1430000" y="4157777"/>
            <a:ext cx="12390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3,82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11048695" y="696315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Groupe Contrôle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(Message Neutre)</a:t>
            </a:r>
            <a:endParaRPr lang="en-US" sz="1300" dirty="0"/>
          </a:p>
        </p:txBody>
      </p:sp>
      <p:pic>
        <p:nvPicPr>
          <p:cNvPr id="39" name="Image 6" descr="gen-dedup-5533a17f99eb79a035b2ac85972dbbf6.png"/>
          <p:cNvPicPr>
            <a:picLocks noChangeAspect="1"/>
          </p:cNvPicPr>
          <p:nvPr/>
        </p:nvPicPr>
        <p:blipFill>
          <a:blip r:embed="rId6"/>
          <a:srcRect t="-12" b="-12"/>
          <a:stretch/>
        </p:blipFill>
        <p:spPr>
          <a:xfrm>
            <a:off x="14192402" y="4381805"/>
            <a:ext cx="1238098" cy="243870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4192402" y="4048049"/>
            <a:ext cx="12390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4,00</a:t>
            </a:r>
            <a:endParaRPr lang="en-US" sz="1600" dirty="0"/>
          </a:p>
        </p:txBody>
      </p:sp>
      <p:sp>
        <p:nvSpPr>
          <p:cNvPr id="41" name="Text 31"/>
          <p:cNvSpPr txBox="1"/>
          <p:nvPr/>
        </p:nvSpPr>
        <p:spPr>
          <a:xfrm>
            <a:off x="13811098" y="6963156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303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Groupe Traité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(Encouragement)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7733995" cy="6590995"/>
          </a:xfrm>
          <a:prstGeom prst="roundRect">
            <a:avLst>
              <a:gd name="adj" fmla="val 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24798" y="2590495"/>
            <a:ext cx="7733995" cy="6590995"/>
          </a:xfrm>
          <a:prstGeom prst="roundRect">
            <a:avLst>
              <a:gd name="adj" fmla="val 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9456"/>
            <a:ext cx="4601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3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Analyse d'Hétérogénéité d'Effet causé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711574" y="2286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16464686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Divergences marquées entre les blocs linguistiques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1429207" y="2895905"/>
            <a:ext cx="7144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Bloc Anglophone vs Bloc Francophone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429207" y="3390595"/>
            <a:ext cx="71442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Bien que l'effet de traitement moyen (ATE) global soit quasi-nul (+0,18 mot), l'introduction de variables de bloc révèle une </a:t>
            </a:r>
            <a:r>
              <a:rPr lang="en-US" sz="1600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hétérogénéité significative et contrastée</a:t>
            </a:r>
            <a:r>
              <a:rPr lang="en-US" sz="16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: </a:t>
            </a:r>
            <a:endParaRPr lang="en-US" sz="1600" dirty="0"/>
          </a:p>
        </p:txBody>
      </p:sp>
      <p:pic>
        <p:nvPicPr>
          <p:cNvPr id="12" name="Image 0" descr="gen-dedup-9d190ceaed52dd7aa888740833280890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429207" y="4496105"/>
            <a:ext cx="7144207" cy="981151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09344" y="4638751"/>
            <a:ext cx="6820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F855A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Bloc Anglophone (N = 13)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09344" y="4934102"/>
            <a:ext cx="68205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L'encouragement a produit un impact positif marqué de </a:t>
            </a: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+1,07 mot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rappelés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moyenne par rapport à leur groupe témoin respectif. </a:t>
            </a:r>
            <a:endParaRPr lang="en-US" sz="1600" dirty="0"/>
          </a:p>
        </p:txBody>
      </p:sp>
      <p:pic>
        <p:nvPicPr>
          <p:cNvPr id="15" name="Image 1" descr="gen-dedup-af677f1babacf41816c659406730bd16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1429207" y="5667451"/>
            <a:ext cx="7144207" cy="9811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609344" y="5810098"/>
            <a:ext cx="68205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5303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Bloc Francophone (N = 8)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609344" y="6105449"/>
            <a:ext cx="68205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L'encouragement s'est traduit par un effet paradoxalement négatif de </a:t>
            </a: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-1,25 mot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rappelés en moyenne par rapport au groupe témoin. 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429207" y="6877202"/>
            <a:ext cx="7144207" cy="112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5568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Interprétation : Ces résultats suggèrent que la perception psychologique et la réceptivité aux incitations verbales légères diffèrent fondamentalement selon des composantes culturelles et linguistiques, annulant mutuellement leurs effets lors de l'agrégation globale.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429207" y="2600554"/>
            <a:ext cx="19248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Analyse par Sous-groupes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9715500" y="2895905"/>
            <a:ext cx="714420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Amplitudes </a:t>
            </a:r>
            <a:r>
              <a:rPr lang="en-US" sz="2100" b="1" dirty="0" err="1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d’effet</a:t>
            </a: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de traitement par bloc linguistique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9715500" y="8409737"/>
            <a:ext cx="71442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contradiction d'effet entre les sous-groupes démontre que l'effet global cache des dynamiques de comportement locales divergentes.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9715500" y="2678322"/>
            <a:ext cx="2563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Visualisation de l'Hétérogénéité</a:t>
            </a:r>
            <a:endParaRPr lang="en-US" sz="900" dirty="0"/>
          </a:p>
        </p:txBody>
      </p:sp>
      <p:pic>
        <p:nvPicPr>
          <p:cNvPr id="23" name="Image 2" descr="gen-dedup-07e1fde5eff5a825ff35b8770cf7398b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477195" y="4267505"/>
            <a:ext cx="5905195" cy="9144"/>
          </a:xfrm>
          <a:prstGeom prst="rect">
            <a:avLst/>
          </a:prstGeom>
        </p:spPr>
      </p:pic>
      <p:pic>
        <p:nvPicPr>
          <p:cNvPr id="24" name="Image 3" descr="gen-dedup-07e1fde5eff5a825ff35b8770cf7398b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477195" y="5076749"/>
            <a:ext cx="5905195" cy="9144"/>
          </a:xfrm>
          <a:prstGeom prst="rect">
            <a:avLst/>
          </a:prstGeom>
        </p:spPr>
      </p:pic>
      <p:pic>
        <p:nvPicPr>
          <p:cNvPr id="25" name="Image 4" descr="gen-dedup-6d4abd0c4f4ee9def62c2051f6162fa5.png"/>
          <p:cNvPicPr>
            <a:picLocks noChangeAspect="1"/>
          </p:cNvPicPr>
          <p:nvPr/>
        </p:nvPicPr>
        <p:blipFill>
          <a:blip r:embed="rId6"/>
          <a:srcRect t="-403" b="-403"/>
          <a:stretch/>
        </p:blipFill>
        <p:spPr>
          <a:xfrm>
            <a:off x="10477195" y="5886907"/>
            <a:ext cx="5905195" cy="19202"/>
          </a:xfrm>
          <a:prstGeom prst="rect">
            <a:avLst/>
          </a:prstGeom>
        </p:spPr>
      </p:pic>
      <p:pic>
        <p:nvPicPr>
          <p:cNvPr id="26" name="Image 5" descr="gen-dedup-07e1fde5eff5a825ff35b8770cf7398b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477195" y="6696151"/>
            <a:ext cx="5905195" cy="9144"/>
          </a:xfrm>
          <a:prstGeom prst="rect">
            <a:avLst/>
          </a:prstGeom>
        </p:spPr>
      </p:pic>
      <p:pic>
        <p:nvPicPr>
          <p:cNvPr id="27" name="Image 6" descr="gen-dedup-07e1fde5eff5a825ff35b8770cf7398b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0477195" y="7505395"/>
            <a:ext cx="5905195" cy="91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715500" y="4190695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+2,0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9715500" y="5000854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+1,0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9715500" y="5810098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0,0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9715500" y="6620256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-1,0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9715500" y="7429500"/>
            <a:ext cx="571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-2,0</a:t>
            </a:r>
            <a:endParaRPr lang="en-US" sz="1000" dirty="0"/>
          </a:p>
        </p:txBody>
      </p:sp>
      <p:pic>
        <p:nvPicPr>
          <p:cNvPr id="33" name="Image 7" descr="gen-dedup-e2dddf5413f832e73ea579f84c8ad652.png"/>
          <p:cNvPicPr>
            <a:picLocks noChangeAspect="1"/>
          </p:cNvPicPr>
          <p:nvPr/>
        </p:nvPicPr>
        <p:blipFill>
          <a:blip r:embed="rId7"/>
          <a:srcRect l="-14" r="-14"/>
          <a:stretch/>
        </p:blipFill>
        <p:spPr>
          <a:xfrm>
            <a:off x="11525098" y="5020056"/>
            <a:ext cx="1143000" cy="865937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1525098" y="4686300"/>
            <a:ext cx="1143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5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+1,07</a:t>
            </a:r>
            <a:endParaRPr lang="en-US" sz="1600" dirty="0"/>
          </a:p>
        </p:txBody>
      </p:sp>
      <p:sp>
        <p:nvSpPr>
          <p:cNvPr id="35" name="Text 25"/>
          <p:cNvSpPr txBox="1"/>
          <p:nvPr/>
        </p:nvSpPr>
        <p:spPr>
          <a:xfrm>
            <a:off x="11096244" y="6077102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855A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Bloc Anglophone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(N = 13)</a:t>
            </a:r>
            <a:endParaRPr lang="en-US" sz="1300" dirty="0"/>
          </a:p>
        </p:txBody>
      </p:sp>
      <p:pic>
        <p:nvPicPr>
          <p:cNvPr id="36" name="Image 8" descr="gen-dedup-853d3f71290ae79aac64d08111cbd89f.png"/>
          <p:cNvPicPr>
            <a:picLocks noChangeAspect="1"/>
          </p:cNvPicPr>
          <p:nvPr/>
        </p:nvPicPr>
        <p:blipFill>
          <a:blip r:embed="rId8"/>
          <a:srcRect t="-10" b="-10"/>
          <a:stretch/>
        </p:blipFill>
        <p:spPr>
          <a:xfrm>
            <a:off x="14287500" y="5886907"/>
            <a:ext cx="1143000" cy="1012241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14287500" y="6993331"/>
            <a:ext cx="1143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-1,25</a:t>
            </a:r>
            <a:endParaRPr lang="en-US" sz="1600" dirty="0"/>
          </a:p>
        </p:txBody>
      </p:sp>
      <p:sp>
        <p:nvSpPr>
          <p:cNvPr id="38" name="Text 27"/>
          <p:cNvSpPr txBox="1"/>
          <p:nvPr/>
        </p:nvSpPr>
        <p:spPr>
          <a:xfrm>
            <a:off x="13952830" y="7142378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5303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Bloc Francophone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(N = 8)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8106" y="2286000"/>
            <a:ext cx="7733995" cy="6590995"/>
          </a:xfrm>
          <a:prstGeom prst="roundRect">
            <a:avLst>
              <a:gd name="adj" fmla="val 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Shape 4"/>
          <p:cNvSpPr/>
          <p:nvPr/>
        </p:nvSpPr>
        <p:spPr>
          <a:xfrm>
            <a:off x="9430207" y="2286000"/>
            <a:ext cx="7733995" cy="6590995"/>
          </a:xfrm>
          <a:prstGeom prst="roundRect">
            <a:avLst>
              <a:gd name="adj" fmla="val 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219456"/>
            <a:ext cx="5143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Interprétation Scientifique &amp; Implications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6711574" y="2286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1776679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Interprétation des résultats et leçons méthodologiques</a:t>
            </a:r>
            <a:endParaRPr lang="en-US" sz="4200" dirty="0"/>
          </a:p>
        </p:txBody>
      </p:sp>
      <p:sp>
        <p:nvSpPr>
          <p:cNvPr id="17" name="Text 15"/>
          <p:cNvSpPr txBox="1"/>
          <p:nvPr/>
        </p:nvSpPr>
        <p:spPr>
          <a:xfrm>
            <a:off x="1429207" y="2600554"/>
            <a:ext cx="1610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Décryptage Empirique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715500" y="2895905"/>
            <a:ext cx="7144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Implications pour la recherche future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9715500" y="3429000"/>
            <a:ext cx="714420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1. Non-universalité des interventions motivationnelles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715500" y="3724351"/>
            <a:ext cx="71442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L'encouragement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verbal écrit,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n’est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pas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universelle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Il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doit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être </a:t>
            </a:r>
            <a:r>
              <a:rPr lang="en-US" sz="1600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soigneusement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b="1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contextualisé</a:t>
            </a: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</a:t>
            </a:r>
            <a:r>
              <a:rPr lang="en-US" sz="1600" b="1" dirty="0" err="1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adapté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aux spécificités culturelles et sociolinguistiques de l'échantillon ciblé. 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715500" y="4724705"/>
            <a:ext cx="739018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2. Recommandations méthodologiques pour les réplications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715500" y="5020056"/>
            <a:ext cx="71442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les futures études, il est vivement recommandé d'intégrer un </a:t>
            </a:r>
            <a:r>
              <a:rPr lang="en-US" sz="16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 de puissance ex-ante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déterminer la taille minimale requise (viser N &gt; 150) afin d'isoler des effets de petite taille. 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15500" y="6019495"/>
            <a:ext cx="714420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3. Conception de designs avec pré-test (baseline)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715500" y="6314846"/>
            <a:ext cx="71442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L'introduction d'un pré-test de mémorisation permettrait d'estimer des modèles en "différence dans les différences" ou à effets fixes individuels, augmentant drastiquement la précision et la robustesse de l'analyse causale.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715500" y="2600554"/>
            <a:ext cx="20098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Perspectives</a:t>
            </a:r>
            <a:endParaRPr lang="en-US" sz="900" dirty="0"/>
          </a:p>
        </p:txBody>
      </p:sp>
      <p:sp>
        <p:nvSpPr>
          <p:cNvPr id="26" name="Text 9"/>
          <p:cNvSpPr txBox="1"/>
          <p:nvPr/>
        </p:nvSpPr>
        <p:spPr>
          <a:xfrm>
            <a:off x="1429207" y="2933395"/>
            <a:ext cx="51627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Pas d'effet causal global prouvé</a:t>
            </a:r>
            <a:endParaRPr lang="en-US" sz="2100" dirty="0"/>
          </a:p>
        </p:txBody>
      </p:sp>
      <p:sp>
        <p:nvSpPr>
          <p:cNvPr id="27" name="Text 10"/>
          <p:cNvSpPr txBox="1"/>
          <p:nvPr/>
        </p:nvSpPr>
        <p:spPr>
          <a:xfrm>
            <a:off x="1476299" y="3237532"/>
            <a:ext cx="6830110" cy="118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r>
              <a:rPr lang="en-US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L'analyse empirique montre que le fait de remettre un message écrit d'encouragement avant un exercice n'a </a:t>
            </a:r>
            <a:r>
              <a:rPr lang="en-US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pas modifié de manière statistiquement significative</a:t>
            </a:r>
            <a:r>
              <a:rPr lang="en-US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le nombre de mots mémorisés (ATE = +0,18, p = 0,844). </a:t>
            </a:r>
            <a:endParaRPr lang="en-US" dirty="0"/>
          </a:p>
        </p:txBody>
      </p:sp>
      <p:sp>
        <p:nvSpPr>
          <p:cNvPr id="28" name="Text 11"/>
          <p:cNvSpPr txBox="1"/>
          <p:nvPr/>
        </p:nvSpPr>
        <p:spPr>
          <a:xfrm>
            <a:off x="1429206" y="4362394"/>
            <a:ext cx="6773889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 err="1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L’absence</a:t>
            </a:r>
            <a:r>
              <a:rPr lang="en-US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d'un résultat robuste à </a:t>
            </a:r>
            <a:r>
              <a:rPr lang="en-US" dirty="0" err="1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l’échelle</a:t>
            </a:r>
            <a:r>
              <a:rPr lang="en-US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du groupe complet s'explique en partie par la taille réduite de l'échantillon (N = 21).</a:t>
            </a:r>
            <a:endParaRPr lang="en-US" dirty="0"/>
          </a:p>
        </p:txBody>
      </p:sp>
      <p:sp>
        <p:nvSpPr>
          <p:cNvPr id="29" name="Text 13"/>
          <p:cNvSpPr txBox="1"/>
          <p:nvPr/>
        </p:nvSpPr>
        <p:spPr>
          <a:xfrm>
            <a:off x="1492270" y="5405933"/>
            <a:ext cx="51627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 err="1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L’influence</a:t>
            </a: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des blocs culturels</a:t>
            </a:r>
            <a:endParaRPr lang="en-US" sz="2100" dirty="0"/>
          </a:p>
        </p:txBody>
      </p:sp>
      <p:sp>
        <p:nvSpPr>
          <p:cNvPr id="30" name="Text 14"/>
          <p:cNvSpPr txBox="1"/>
          <p:nvPr/>
        </p:nvSpPr>
        <p:spPr>
          <a:xfrm>
            <a:off x="1405059" y="5762340"/>
            <a:ext cx="6822181" cy="10451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r>
              <a:rPr lang="en-US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Le fait marquant de l'étude réside dans </a:t>
            </a:r>
            <a:r>
              <a:rPr lang="en-US" b="1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l'opposition des effets par sous-groupes linguistiques</a:t>
            </a:r>
            <a:r>
              <a:rPr lang="en-US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: effet positif pour les Anglophones (+1,07) et négatif pour les Francophones (-1,25). </a:t>
            </a:r>
            <a:endParaRPr lang="en-US" dirty="0"/>
          </a:p>
        </p:txBody>
      </p:sp>
      <p:sp>
        <p:nvSpPr>
          <p:cNvPr id="31" name="Text 15"/>
          <p:cNvSpPr txBox="1"/>
          <p:nvPr/>
        </p:nvSpPr>
        <p:spPr>
          <a:xfrm>
            <a:off x="1492270" y="6945246"/>
            <a:ext cx="6710824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1A202C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Ce phénomène de compensation mutuelle justifie la mise en œuvre de designs de recherche qui intègrent systématiquement les facteurs d'hétérogénéité locaux.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7733995" cy="6590995"/>
          </a:xfrm>
          <a:prstGeom prst="roundRect">
            <a:avLst>
              <a:gd name="adj" fmla="val 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30207" y="2286000"/>
            <a:ext cx="7733995" cy="6590995"/>
          </a:xfrm>
          <a:prstGeom prst="roundRect">
            <a:avLst>
              <a:gd name="adj" fmla="val 1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219456"/>
            <a:ext cx="56967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3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Références Méthodologiques &amp; Cadre de Recherche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6711574" y="228600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17" dirty="0">
                <a:solidFill>
                  <a:srgbClr val="FEB2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1776679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42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Références bibliographiques et environnement technique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1429207" y="2895905"/>
            <a:ext cx="7144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Littérature et cadres d'analyse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429207" y="3638398"/>
            <a:ext cx="71442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Thaler, R. H., &amp; Sunstein, C. R. (2008). </a:t>
            </a:r>
            <a:r>
              <a:rPr lang="en-US" sz="1600" i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Nudge: Improving decisions about health, wealth, and happiness.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Yale University Press. (Théorie sur l'influence des interventions douces non-monétaires). 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28293" y="4914292"/>
            <a:ext cx="71442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Beilock, S. L., &amp; Carr, T. H. (2001). </a:t>
            </a:r>
            <a:r>
              <a:rPr lang="en-US" sz="1600" i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the fragility of working memory: Choking under pressure in mathematical problem solving.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Journal of Experimental Psychology: General. (Mécanismes psychologiques d'interférence émotionnelle). 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29207" y="6057900"/>
            <a:ext cx="71442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Angrist, J. D., &amp; Pischke, J. S. (2009). </a:t>
            </a:r>
            <a:r>
              <a:rPr lang="en-US" sz="1600" i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Mostly Harmless Econometrics: An empiricist's companion.</a:t>
            </a:r>
            <a:r>
              <a:rPr lang="en-US" sz="16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Princeton University Press. (Cadre pour l'estimation de l'ATE et l'ajustement par blocs). 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29207" y="2600554"/>
            <a:ext cx="3863229" cy="47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Références académiques fondamentales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29206" y="3448203"/>
            <a:ext cx="4320429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[1] Économie comportementale &amp; Nudges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29207" y="4657954"/>
            <a:ext cx="2677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[2] Performance &amp; Pression Cognitive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29207" y="5867705"/>
            <a:ext cx="2610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[3] Inférence Causale Expérimentale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715500" y="2895905"/>
            <a:ext cx="71442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Méthodologie logicielle et packages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9715500" y="3638398"/>
            <a:ext cx="714420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Logiciel R :</a:t>
            </a:r>
            <a:r>
              <a:rPr lang="en-US" sz="13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Environnement d'analyse statistique et de modélisation pour l'évaluation rigoureuse de l'expérience d'inférence causale. 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715500" y="4591202"/>
            <a:ext cx="71442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estimatr :</a:t>
            </a:r>
            <a:r>
              <a:rPr lang="en-US" sz="13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Utilisation de la fonction </a:t>
            </a: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lm_robust()</a:t>
            </a:r>
            <a:r>
              <a:rPr lang="en-US" sz="130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pour l'ajustement de la régression linéaire avec effets fixes de blocs (anglais/français) et erreurs-types robustes HC2. 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715500" y="5343754"/>
            <a:ext cx="7144207" cy="1485899"/>
          </a:xfrm>
          <a:prstGeom prst="roundRect">
            <a:avLst>
              <a:gd name="adj" fmla="val 49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867747" y="5884926"/>
            <a:ext cx="6839712" cy="944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Cette étude s'inscrit dans le cadre pratique de l'expérience n°2 (</a:t>
            </a:r>
            <a:r>
              <a:rPr lang="en-US" sz="1600" i="1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Mémorisation</a:t>
            </a:r>
            <a:r>
              <a:rPr lang="en-US" sz="1600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et Encouragement) menée au sein de la formation professionnelle à l'inférence causale expérimentale organisée pour les praticiens du développement.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15500" y="2600554"/>
            <a:ext cx="2878282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Environnement</a:t>
            </a:r>
            <a:r>
              <a:rPr lang="en-US" sz="9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300" b="1" kern="0" spc="90" dirty="0">
                <a:solidFill>
                  <a:srgbClr val="C53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d'Analyse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715500" y="3448202"/>
            <a:ext cx="2162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Logiciel d'analyse de données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15500" y="4401007"/>
            <a:ext cx="2162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Package d'estimation linéaire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868205" y="5524804"/>
            <a:ext cx="2725577" cy="16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55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Fiche de formation CERAP-EGAP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A6A6B34-1931-4508-B8A3-F4FF5FED0F9E}"/>
              </a:ext>
            </a:extLst>
          </p:cNvPr>
          <p:cNvSpPr txBox="1"/>
          <p:nvPr/>
        </p:nvSpPr>
        <p:spPr>
          <a:xfrm>
            <a:off x="1524000" y="3227338"/>
            <a:ext cx="15240000" cy="230832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fr-FR" sz="14400" b="1" dirty="0">
                <a:solidFill>
                  <a:srgbClr val="2E5A87"/>
                </a:solidFill>
                <a:latin typeface="+mj-lt"/>
              </a:rPr>
              <a:t>Merci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00C737B-6014-41A6-989B-3672978A5A40}"/>
              </a:ext>
            </a:extLst>
          </p:cNvPr>
          <p:cNvSpPr txBox="1"/>
          <p:nvPr/>
        </p:nvSpPr>
        <p:spPr>
          <a:xfrm>
            <a:off x="1524000" y="5715000"/>
            <a:ext cx="15240000" cy="7848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fr-FR" sz="4500" i="1" dirty="0">
                <a:solidFill>
                  <a:srgbClr val="C2703D"/>
                </a:solidFill>
                <a:latin typeface="+mj-lt"/>
              </a:rPr>
              <a:t>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930079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2FE1350-A548-4477-BE39-DC374B782E59}">
  <we:reference id="wa200010725" version="1.0.0.1" store="fr-FR" storeType="OMEX"/>
  <we:alternateReferences>
    <we:reference id="WA200010725" version="1.0.0.1" store="" storeType="OMEX"/>
  </we:alternateReferences>
  <we:properties>
    <we:property name="claude.fileId" value="&quot;d4741ccf-a602-4785-93b8-968ef0105eb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2265</Words>
  <Application>Microsoft Office PowerPoint</Application>
  <PresentationFormat>Custom</PresentationFormat>
  <Paragraphs>334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Courier New</vt:lpstr>
      <vt:lpstr>Inter</vt:lpstr>
      <vt:lpstr>JetBrains Mono</vt:lpstr>
      <vt:lpstr>Playfair Display</vt:lpstr>
      <vt:lpstr>Plus Jakarta Sans</vt:lpstr>
      <vt:lpstr>Source Serif 4</vt:lpstr>
      <vt:lpstr>Source Serif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Macartan Humphreys</cp:lastModifiedBy>
  <cp:revision>17</cp:revision>
  <dcterms:created xsi:type="dcterms:W3CDTF">2026-06-11T22:04:14Z</dcterms:created>
  <dcterms:modified xsi:type="dcterms:W3CDTF">2026-06-13T15:39:12Z</dcterms:modified>
</cp:coreProperties>
</file>