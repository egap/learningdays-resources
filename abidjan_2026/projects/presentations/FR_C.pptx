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2" r:id="rId7"/>
    <p:sldId id="261" r:id="rId8"/>
    <p:sldId id="268" r:id="rId9"/>
    <p:sldId id="263" r:id="rId10"/>
    <p:sldId id="267" r:id="rId11"/>
  </p:sldIdLst>
  <p:sldSz cx="12192000" cy="6858000"/>
  <p:notesSz cx="6858000" cy="9144000"/>
  <p:defaultTextStyle>
    <a:defPPr>
      <a:defRPr lang="fr-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021FF-1C46-904B-389F-2216E6C79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2FDA2D-062A-881E-53F2-E7B041247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CB03D2-970B-9CE3-0B29-515A748F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52A929-5DD3-78EB-2DC8-7B93CD17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6BD3B2-39D3-C08E-9A81-8F3221C2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86148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B06440-7197-6437-86E1-35B5F316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952E2D-EAAE-50A9-756A-BD9B1B79F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7CD0FC-4093-51E9-8932-66D28B840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08A614-138C-D2F0-272C-F69C2B5EA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66DAFA-7178-28B4-3157-31730A98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353598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D13095-DA54-CA99-B53D-1162A3B0B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33C8D1-F31C-A714-65A1-3DF153D77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CFE208-75A0-FFB5-71E8-ABE1F162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D22C8F-497A-0B53-1A25-08AC45196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304472-AE7A-759D-6148-EEE4FC07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308399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32F5B6-0424-42DC-CCE7-D193EE05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E2F4D4-57D6-B0F0-893E-90302C41D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246174-3446-D229-AF90-7B1339EE4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45F6B6-C3FE-87FA-3F91-68313827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93A34B-5BA4-505D-5AFF-0CB5139F1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BF3C9C-3D67-D012-2F34-762ABCF7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68517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4480F0-2723-8A78-CBC4-B2A84634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DFB88B-ABE2-04B7-100E-EEDEDF318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D40D76-DA60-1800-7756-D981EBB72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DF7919E-229E-DFDC-C862-4441CB1E2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CF27885-7895-0C91-4B6E-8417FD418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501B989-6A9B-C81C-DB2B-D4F510BAB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76C1FA2-CE5B-7A49-14FC-6953DE4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6C399FD-7933-AC2C-3AB1-C9E59333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29569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CA687-F1C3-F68F-A8C8-0E7E1370E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F1F9C8-2712-464E-25C0-5E8B6F4C4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AF59000-7E22-6516-1BBE-65CB86878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FA83AA-DA4E-DF21-F1AE-6A691560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564595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4AE7AE-4037-7DE3-38F1-57B23D1A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729338-4133-6B3A-0FBD-D10233C7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F657DF-0BA8-3B20-DAC7-B37F1495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75762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EE48C3-0803-A006-8D2B-DDAB9538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5DE374-CF2F-F859-FA9B-3278667E5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64F455-225C-CFBD-6EDA-FD19CCA2D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E8734F-4E92-6D63-E61F-66F915597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3CCC6D-0694-7AD0-1BFE-201D2D2E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9092B6-71F4-969B-9C28-325DFA24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96925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A16B55-A15C-F6AE-7070-09937AECD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1A37CF2-CF61-905C-B6C0-4A8339163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N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983A53-5317-9BD9-289E-2E1EAE120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9297056-6430-0D5E-85E3-90C2F38A5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844164-AC79-45CF-19DB-BE979053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23AC0B-B315-D896-50CA-C68CA1E0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51906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A91EAF-0443-7C8A-0C6F-A57B8BDB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1579AF-329F-577F-2D81-F4BCBC03B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753AC9-DD86-FD70-B7C4-774508F64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BD28BF-0579-635F-CF92-8201AC34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30A1FF-9682-08E3-96DF-38B233A90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316997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5CE30AD-F01C-4511-D3E5-657A36057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39A0F1-D97F-E4C8-CE09-FF96F979F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42CEF5-526B-0CA9-617F-E25DD38E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086531-6935-7601-50E3-94C25C18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E377BD-F2DC-ACA1-F48E-1B4624EA8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051487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C0DDD4D-7BAF-89E6-E1A5-B145E4AA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31B53D-AA5D-091B-05E9-CD5C82F07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9B8531-86B5-B1B7-0381-8C3789997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61B5F-B997-4091-A3D7-2384EFEDB4A2}" type="datetimeFigureOut">
              <a:rPr lang="fr-NE" smtClean="0"/>
              <a:t>06/12/2026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3118A6-9A10-5A88-3DBA-AB5DF02D1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8C1429-24BB-5033-3414-3D6001E3F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68E3C-3A9E-4297-935B-CCA7D66C589E}" type="slidenum">
              <a:rPr lang="fr-NE" smtClean="0"/>
              <a:t>‹#›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02521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E5365-D1A8-275B-67B4-8DD2E552C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28" y="2669628"/>
            <a:ext cx="11677671" cy="2050010"/>
          </a:xfrm>
        </p:spPr>
        <p:txBody>
          <a:bodyPr>
            <a:noAutofit/>
          </a:bodyPr>
          <a:lstStyle/>
          <a:p>
            <a:r>
              <a:rPr lang="fr-FR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Effet d'une fiche de révision sur les connaissances en inférence causale : une expérience randomisée auprès des participants des Learning Days 2026</a:t>
            </a:r>
            <a:endParaRPr lang="fr-NE" sz="40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35B191-D4E6-8E7E-D8E9-01560F629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90" y="479276"/>
            <a:ext cx="1360932" cy="112424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2BA8D72-0F62-4D48-7A94-A1BE7F402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791" y="769937"/>
            <a:ext cx="2105025" cy="54292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42803A4-8E7A-1F6F-1ACF-BA6E5802CB63}"/>
              </a:ext>
            </a:extLst>
          </p:cNvPr>
          <p:cNvSpPr txBox="1"/>
          <p:nvPr/>
        </p:nvSpPr>
        <p:spPr>
          <a:xfrm>
            <a:off x="231228" y="5016834"/>
            <a:ext cx="114878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 C francophone </a:t>
            </a:r>
            <a:endParaRPr lang="fr-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FC7EF27-5F82-C8C9-C23A-275C3D95FD5E}"/>
              </a:ext>
            </a:extLst>
          </p:cNvPr>
          <p:cNvSpPr txBox="1"/>
          <p:nvPr/>
        </p:nvSpPr>
        <p:spPr>
          <a:xfrm>
            <a:off x="421093" y="1910186"/>
            <a:ext cx="11487806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Atelier de travail en groupe</a:t>
            </a:r>
            <a:endParaRPr lang="fr-N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ECA4F49-777B-7C67-71D8-43453A82747F}"/>
              </a:ext>
            </a:extLst>
          </p:cNvPr>
          <p:cNvSpPr txBox="1"/>
          <p:nvPr/>
        </p:nvSpPr>
        <p:spPr>
          <a:xfrm>
            <a:off x="3321268" y="779789"/>
            <a:ext cx="6222125" cy="769441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days 2026</a:t>
            </a:r>
            <a:endParaRPr lang="fr-NE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5">
            <a:extLst>
              <a:ext uri="{FF2B5EF4-FFF2-40B4-BE49-F238E27FC236}">
                <a16:creationId xmlns:a16="http://schemas.microsoft.com/office/drawing/2014/main" id="{FABCA5FE-A22C-C755-1EFD-C1F357691CB6}"/>
              </a:ext>
            </a:extLst>
          </p:cNvPr>
          <p:cNvSpPr txBox="1"/>
          <p:nvPr/>
        </p:nvSpPr>
        <p:spPr>
          <a:xfrm>
            <a:off x="231228" y="5978614"/>
            <a:ext cx="11487806" cy="40011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 Fatou; MOUSSA Charifatou; KOUASSI Moulo; SANDJO Falone; BAMBA Youssouf</a:t>
            </a:r>
            <a:endParaRPr lang="fr-N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755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46199-C669-CED7-A7FF-AD0B69F2D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58" y="94594"/>
            <a:ext cx="11971283" cy="1019503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de présentation</a:t>
            </a:r>
            <a:endParaRPr lang="fr-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65C7F4-92E3-267D-0910-BA778DAA5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58" y="1825625"/>
            <a:ext cx="11839904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 Question de recherche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II- IMIDA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III- Rapport de mise en Œuvre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IV- Résultats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V- Interprétation et implications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72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46199-C669-CED7-A7FF-AD0B69F2D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58" y="94594"/>
            <a:ext cx="11971283" cy="1019503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 Question de recherche</a:t>
            </a:r>
            <a:endParaRPr lang="fr-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65C7F4-92E3-267D-0910-BA778DAA5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58" y="1825625"/>
            <a:ext cx="11839904" cy="43513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de recherche: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 est l’effet de la mise à disposition d’une fiche de révision portant sur l’inférence causale aux participants  du Learning days 2026, sur le score obtenu une évaluation? </a:t>
            </a:r>
          </a:p>
        </p:txBody>
      </p:sp>
    </p:spTree>
    <p:extLst>
      <p:ext uri="{BB962C8B-B14F-4D97-AF65-F5344CB8AC3E}">
        <p14:creationId xmlns:p14="http://schemas.microsoft.com/office/powerpoint/2010/main" val="164179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222646-47ED-35CB-E649-48C2164D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18" y="171450"/>
            <a:ext cx="11864206" cy="95885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II-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iMIDA</a:t>
            </a:r>
            <a:endParaRPr lang="fr-NE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146863-8F63-2FF0-676F-94324CDA1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1323976"/>
            <a:ext cx="11725275" cy="536257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question secondaire: les interventions pédagogiques courtes permettent-elles d’améliorer les connaissances des participants?</a:t>
            </a:r>
          </a:p>
          <a:p>
            <a:pPr marL="0" indent="0" algn="just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 = α + β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 + β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Li+εi,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où Yi est le score au quiz de l’individu i et T indique le traitement et L indique la langue.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T= 1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le participant a reçu la fiche;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0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le participant a reçu un message placebo .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langue française ou anglais. i varie de 1 à 19</a:t>
            </a:r>
          </a:p>
          <a:p>
            <a:pPr marL="0" indent="0" algn="just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quel est l’effet causal de la mise à disposition d’une fiche de révision sur le score moyen au quiz?</a:t>
            </a:r>
          </a:p>
          <a:p>
            <a:pPr marL="0" indent="0" algn="just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D: </a:t>
            </a:r>
          </a:p>
          <a:p>
            <a:pPr marL="0" indent="0" algn="just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: Participants au Learning 2026;</a:t>
            </a:r>
          </a:p>
          <a:p>
            <a:pPr marL="0" indent="0" algn="just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 : réception d’une fiche de révision sur l’inférence causale</a:t>
            </a:r>
          </a:p>
          <a:p>
            <a:pPr marL="0" indent="0" algn="just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Contrôle : réception d’un résumé placebo sur le café</a:t>
            </a:r>
          </a:p>
          <a:p>
            <a:pPr marL="0" indent="0" algn="just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 : score au quiz</a:t>
            </a:r>
          </a:p>
          <a:p>
            <a:pPr marL="0" indent="0" algn="just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Méthodologie : assignation aléatoire par bloc (bloc anglophone et bloc francophone) avec un seuil de 0,05.</a:t>
            </a:r>
          </a:p>
          <a:p>
            <a:pPr marL="0" indent="0" algn="just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stratégie d’analyse: régression linéaire </a:t>
            </a:r>
          </a:p>
        </p:txBody>
      </p:sp>
    </p:spTree>
    <p:extLst>
      <p:ext uri="{BB962C8B-B14F-4D97-AF65-F5344CB8AC3E}">
        <p14:creationId xmlns:p14="http://schemas.microsoft.com/office/powerpoint/2010/main" val="67630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F7FC3-438F-35C0-9D4C-8FF5E0391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15" y="173422"/>
            <a:ext cx="11971282" cy="1024758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III- Rapport de mise en œuvre  </a:t>
            </a:r>
            <a:endParaRPr lang="fr-N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645D94-C44E-5D5E-C276-527A1756D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15" y="1198179"/>
            <a:ext cx="11971282" cy="54863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Randomisation des participants par blocs, selon la langue;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des résumés (via deux groupes WhatsApp);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Quelques minutes de lecture accordées aux participants pour lire le texte;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du quiz via google Forms aux groupes, de traitement et de contrôle;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Exportation et analyse des données dans R: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Taille échantillon est:  T19 (Groupe traitement =10 et groupe contrôle =9) et Taux de réponse =100%</a:t>
            </a:r>
          </a:p>
        </p:txBody>
      </p:sp>
    </p:spTree>
    <p:extLst>
      <p:ext uri="{BB962C8B-B14F-4D97-AF65-F5344CB8AC3E}">
        <p14:creationId xmlns:p14="http://schemas.microsoft.com/office/powerpoint/2010/main" val="1767815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F6E30-644C-285A-442B-ABC72F69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90952"/>
            <a:ext cx="12192000" cy="1135118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IV- Résultats</a:t>
            </a:r>
            <a:endParaRPr lang="fr-N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291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56E6A7-BB58-BB87-03D7-3B6CFDC5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36635"/>
            <a:ext cx="12118428" cy="861848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Diagramme des scores par groupe( traitement et contrôle)</a:t>
            </a:r>
            <a:endParaRPr lang="fr-N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77F604FE-8475-7648-B9C6-6043E2A15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34" y="1093076"/>
            <a:ext cx="11613931" cy="5356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2944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8C8FDA-E777-D2EF-70C9-784ECBF91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659844"/>
              </p:ext>
            </p:extLst>
          </p:nvPr>
        </p:nvGraphicFramePr>
        <p:xfrm>
          <a:off x="943894" y="576929"/>
          <a:ext cx="105155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86249611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1621638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26240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P.Value</a:t>
                      </a:r>
                      <a:endParaRPr lang="fr-F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96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30,81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(1,338)</a:t>
                      </a:r>
                      <a:endParaRPr lang="fr-F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1.079154e-13</a:t>
                      </a:r>
                      <a:endParaRPr lang="fr-F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87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-0,08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(1,690)</a:t>
                      </a:r>
                      <a:endParaRPr lang="fr-F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0,96</a:t>
                      </a:r>
                      <a:endParaRPr lang="fr-F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041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LangueFr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0,89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(1.571)</a:t>
                      </a:r>
                      <a:endParaRPr lang="fr-F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0,58</a:t>
                      </a:r>
                      <a:endParaRPr lang="fr-F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343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1358D15-1010-7C4B-4F4D-6E62090FDB6C}"/>
              </a:ext>
            </a:extLst>
          </p:cNvPr>
          <p:cNvSpPr txBox="1"/>
          <p:nvPr/>
        </p:nvSpPr>
        <p:spPr>
          <a:xfrm>
            <a:off x="943894" y="3705518"/>
            <a:ext cx="10409903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: 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participants ayant reçu la fiche de révision obtiennent en moyenne un score inférieur de 0,08 point à celui du groupe contrôle. Cependant, p=0.962 (élevée). Cela signifie que les données ne fournissent aucune preuve statistique que la fiche de révision ait eu un effet sur le score obtenu.</a:t>
            </a:r>
            <a:endParaRPr lang="fr-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923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2E0FDA-DE05-1FFC-59A3-6C6AFB59B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14" y="84083"/>
            <a:ext cx="11855669" cy="1103587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V-Interprétations et implications </a:t>
            </a:r>
            <a:endParaRPr lang="fr-N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5711FED-648D-B425-7626-DDAB33AF52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185" y="1825625"/>
                <a:ext cx="11855669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fr-F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Corrélation avec la langue</a:t>
                </a:r>
                <a: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​=0.894</a:t>
                </a:r>
              </a:p>
              <a:p>
                <a:pPr marL="0" indent="0" algn="just">
                  <a:buNone/>
                </a:pPr>
                <a: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Les participants randomisés dans le bloc francophone semblent obtenir en moyenne un score supérieur de 0,89 point. Cependant , p=0.577 : pas statistiquement significative. La langue parlée ne semble pas être corrélée avec les résultats du quiz.</a:t>
                </a:r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fr-FR" dirty="0"/>
              </a:p>
              <a:p>
                <a:pPr marL="0" indent="0" algn="just">
                  <a:buNone/>
                </a:pPr>
                <a:r>
                  <a:rPr lang="fr-F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</a:t>
                </a:r>
                <a: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L'expérience ne met pas en évidence d'effet statistiquement significatif de la mise à disposition d'une fiche de révision sur les performances au quiz.</a:t>
                </a:r>
              </a:p>
              <a:p>
                <a:pPr marL="0" indent="0" algn="just">
                  <a:buNone/>
                </a:pPr>
                <a:endParaRPr lang="fr-F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fr-F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Limites : </a:t>
                </a:r>
                <a: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 manque de puissance statistique dû à la petite taille de l'échantillon ; un temps de lecture insuffisant ; difficulté de faire les blocs selon le background.</a:t>
                </a:r>
                <a:endParaRPr lang="fr-NE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5711FED-648D-B425-7626-DDAB33AF52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185" y="1825625"/>
                <a:ext cx="11855669" cy="4351338"/>
              </a:xfrm>
              <a:blipFill>
                <a:blip r:embed="rId2"/>
                <a:stretch>
                  <a:fillRect l="-771" t="-2801" r="-8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993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AEB423-7560-F974-EBCD-F856BB199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737" y="1534510"/>
            <a:ext cx="11729545" cy="4642453"/>
          </a:xfrm>
        </p:spPr>
        <p:txBody>
          <a:bodyPr/>
          <a:lstStyle/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NE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2B1CE1D-7CC8-4D5E-C2C8-225099C7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94" y="2679800"/>
            <a:ext cx="11855669" cy="1103587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Merci pour votre aimable attention  </a:t>
            </a:r>
            <a:endParaRPr lang="fr-N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1657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566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Wingdings</vt:lpstr>
      <vt:lpstr>Thème Office</vt:lpstr>
      <vt:lpstr>Effet d'une fiche de révision sur les connaissances en inférence causale : une expérience randomisée auprès des participants des Learning Days 2026</vt:lpstr>
      <vt:lpstr>Plan de présentation</vt:lpstr>
      <vt:lpstr>I- Question de recherche</vt:lpstr>
      <vt:lpstr>II- iMIDA</vt:lpstr>
      <vt:lpstr>III- Rapport de mise en œuvre  </vt:lpstr>
      <vt:lpstr>IV- Résultats</vt:lpstr>
      <vt:lpstr>Diagramme des scores par groupe( traitement et contrôle)</vt:lpstr>
      <vt:lpstr>PowerPoint Presentation</vt:lpstr>
      <vt:lpstr>V-Interprétations et implications </vt:lpstr>
      <vt:lpstr>Merci pour votre aimable attention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Charifatou Mahamane</dc:creator>
  <cp:lastModifiedBy>YOUSSOUF BAMBA</cp:lastModifiedBy>
  <cp:revision>35</cp:revision>
  <dcterms:created xsi:type="dcterms:W3CDTF">2026-06-11T17:09:18Z</dcterms:created>
  <dcterms:modified xsi:type="dcterms:W3CDTF">2026-06-12T10:19:08Z</dcterms:modified>
</cp:coreProperties>
</file>